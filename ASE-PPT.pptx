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sldIdLst>
    <p:sldId id="262" r:id="rId3"/>
    <p:sldId id="707" r:id="rId4"/>
    <p:sldId id="257" r:id="rId5"/>
    <p:sldId id="903" r:id="rId6"/>
    <p:sldId id="902" r:id="rId7"/>
    <p:sldId id="258" r:id="rId8"/>
    <p:sldId id="259" r:id="rId9"/>
    <p:sldId id="260" r:id="rId10"/>
    <p:sldId id="904" r:id="rId11"/>
    <p:sldId id="90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B03022-1F30-4885-B78F-22C04F8A973E}" type="doc">
      <dgm:prSet loTypeId="urn:microsoft.com/office/officeart/2005/8/layout/venn3" loCatId="relationship" qsTypeId="urn:microsoft.com/office/officeart/2005/8/quickstyle/3d7#1" qsCatId="3D" csTypeId="urn:microsoft.com/office/officeart/2005/8/colors/colorful1#1" csCatId="colorful" phldr="1"/>
      <dgm:spPr/>
      <dgm:t>
        <a:bodyPr/>
        <a:lstStyle/>
        <a:p>
          <a:endParaRPr lang="en-IN"/>
        </a:p>
      </dgm:t>
    </dgm:pt>
    <dgm:pt modelId="{4094C340-BA43-4FE7-BEDC-37D235AAAD16}" type="pres">
      <dgm:prSet presAssocID="{84B03022-1F30-4885-B78F-22C04F8A973E}" presName="Name0" presStyleCnt="0">
        <dgm:presLayoutVars>
          <dgm:dir/>
          <dgm:resizeHandles val="exact"/>
        </dgm:presLayoutVars>
      </dgm:prSet>
      <dgm:spPr/>
    </dgm:pt>
  </dgm:ptLst>
  <dgm:cxnLst>
    <dgm:cxn modelId="{536B444D-E965-4C7A-901B-8D59695FE972}" type="presOf" srcId="{84B03022-1F30-4885-B78F-22C04F8A973E}" destId="{4094C340-BA43-4FE7-BEDC-37D235AAAD16}" srcOrd="0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#1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62C7A-CC9D-4035-A213-68F795EB7A2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7703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5F904-3F1F-4281-A9E1-C2FB746B8BF7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6D309-B4D5-4527-B36F-A10579509D53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5E381-5B31-4AF8-B2D5-825A2871D21A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8F223-DE04-43B3-A1CA-82C024222846}" type="datetime1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C939F-6452-40B3-8B30-A5C8AB6A0DFC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3805D-913B-4F6D-902C-E5136FBF0E0C}" type="datetime1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5B214-4124-49D8-A24E-DBA27A6445C3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956CC-F7C8-47FB-89A1-FBAE32B2A8EB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10B40-B78B-4C4B-BDCF-3CB98651AC41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C7294-1103-4E07-87C3-AC60860F3AE3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91251-3688-4348-9E3A-30E567D55C4D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DBFDF-CDE2-40CB-8FA4-3CBB1CF54A9D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77594-F345-470B-9851-AAB51F8A07D1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14D82-1E80-4D9B-9F48-1603FF32D29B}" type="datetime1">
              <a:rPr lang="en-US" smtClean="0"/>
              <a:t>9/17/2026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91D6D-4517-4318-8E63-BA647FC73676}" type="datetime1">
              <a:rPr lang="en-US" smtClean="0"/>
              <a:t>9/17/2026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8BE11-45C9-4A33-91D6-F834346F8230}" type="datetime1">
              <a:rPr lang="en-US" smtClean="0"/>
              <a:t>9/17/2026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F475-35D2-4DB4-B393-F0CB7E443F34}" type="datetime1">
              <a:rPr lang="en-US" smtClean="0"/>
              <a:t>9/17/2026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F7173-3C06-4909-B7DB-53FA6C1C449E}" type="datetime1">
              <a:rPr lang="en-US" smtClean="0"/>
              <a:t>9/17/2026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6B61D-E795-4B3F-91F2-8D80F4704BCD}" type="datetime1">
              <a:rPr lang="en-US" smtClean="0"/>
              <a:t>9/17/2026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192F9-85A8-474E-9101-6E509395F1D7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A09B4-E520-4CE3-B3CD-968466114F87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1BE44B-A080-444E-B2F8-66835D348D22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AF9358-0389-4EC9-8C09-403CD6E20950}" type="datetime1">
              <a:rPr lang="en-US" smtClean="0"/>
              <a:t>9/17/2026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hyperlink" Target="https://svgsilh.com/03a9f4/image/98809.html" TargetMode="External"/><Relationship Id="rId7" Type="http://schemas.openxmlformats.org/officeDocument/2006/relationships/diagramColors" Target="../diagrams/colors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297677"/>
              </p:ext>
            </p:extLst>
          </p:nvPr>
        </p:nvGraphicFramePr>
        <p:xfrm>
          <a:off x="8193271" y="4898509"/>
          <a:ext cx="3702050" cy="1493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12421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K. Srimaan-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2420030418</a:t>
                      </a:r>
                      <a:b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</a:br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K. Suresh  -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2420030229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M. Jai Tej  -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2420030393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  <a:p>
                      <a:pPr marL="0" algn="l" defTabSz="914400" rtl="0" eaLnBrk="1" latinLnBrk="0" hangingPunct="1"/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719861"/>
              </p:ext>
            </p:extLst>
          </p:nvPr>
        </p:nvGraphicFramePr>
        <p:xfrm>
          <a:off x="-795813" y="4774125"/>
          <a:ext cx="590232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5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R. Chandra Shekhar</a:t>
                      </a:r>
                      <a:br>
                        <a:rPr lang="en-US" sz="15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</a:br>
                      <a:r>
                        <a:rPr lang="en-US" sz="15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Assistant Professor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CSE,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51D8D-77C0-43B9-9B5F-E46EDA00679A}" type="datetime1">
              <a:rPr lang="en-US" b="1" smtClean="0"/>
              <a:t>9/17/2026</a:t>
            </a:fld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CNAD Project Review-1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4" y="766613"/>
            <a:ext cx="10915650" cy="98564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660516" y="975485"/>
            <a:ext cx="107156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SLA-Aware Stable Adaptive ML Model Selection Using MAPE-K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638175" y="2199745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ASE Project Review-2</a:t>
            </a: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AE64B-DFA9-4528-D74E-DAEA88C0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4C1F5F2-ECD8-4C6D-ADBC-EC676B29AED6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9/17/2026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22DE7-17C6-1B7E-71C0-2347B0AA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CNAD Project Review-1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0A00F-144B-157D-A12F-7CF90703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7C6D7-F4DC-4908-B610-D10EE43A9B41}"/>
              </a:ext>
            </a:extLst>
          </p:cNvPr>
          <p:cNvSpPr txBox="1"/>
          <p:nvPr/>
        </p:nvSpPr>
        <p:spPr>
          <a:xfrm>
            <a:off x="3020906" y="173546"/>
            <a:ext cx="5854242" cy="646331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0" normalizeH="0" baseline="0" noProof="0" dirty="0">
                <a:ln w="0"/>
                <a:solidFill>
                  <a:srgbClr val="4472C4"/>
                </a:solidFill>
                <a:effectLst/>
                <a:uLnTx/>
                <a:uFillTx/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Outline of Project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25CDE63-8DDC-4AC4-7713-9D89D6D0F4B1}"/>
              </a:ext>
            </a:extLst>
          </p:cNvPr>
          <p:cNvGrpSpPr/>
          <p:nvPr/>
        </p:nvGrpSpPr>
        <p:grpSpPr>
          <a:xfrm>
            <a:off x="2001361" y="1377996"/>
            <a:ext cx="6784432" cy="4418651"/>
            <a:chOff x="1929643" y="1656655"/>
            <a:chExt cx="6784432" cy="441865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A4CA55-824E-91B2-D5F9-032778D4B8B3}"/>
                </a:ext>
              </a:extLst>
            </p:cNvPr>
            <p:cNvSpPr txBox="1"/>
            <p:nvPr/>
          </p:nvSpPr>
          <p:spPr>
            <a:xfrm>
              <a:off x="2645698" y="3289875"/>
              <a:ext cx="4267376" cy="96032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Proposed System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E7E17B2-5AF8-C463-91C3-5B87FC773369}"/>
                </a:ext>
              </a:extLst>
            </p:cNvPr>
            <p:cNvSpPr txBox="1"/>
            <p:nvPr/>
          </p:nvSpPr>
          <p:spPr>
            <a:xfrm>
              <a:off x="2949188" y="3880017"/>
              <a:ext cx="4374693" cy="73507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Technology Used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160BA9-A291-1BA5-C03E-7218C2169C28}"/>
                </a:ext>
              </a:extLst>
            </p:cNvPr>
            <p:cNvSpPr txBox="1"/>
            <p:nvPr/>
          </p:nvSpPr>
          <p:spPr>
            <a:xfrm>
              <a:off x="3139925" y="4332926"/>
              <a:ext cx="4529560" cy="93769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Workflow / Architecture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792DA3-F484-948A-E346-F158FE24CE3F}"/>
                </a:ext>
              </a:extLst>
            </p:cNvPr>
            <p:cNvSpPr txBox="1"/>
            <p:nvPr/>
          </p:nvSpPr>
          <p:spPr>
            <a:xfrm>
              <a:off x="3426151" y="4880317"/>
              <a:ext cx="4774676" cy="91973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Modules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</a:b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7E2443-43F4-3FA3-6C83-796D6B456220}"/>
                </a:ext>
              </a:extLst>
            </p:cNvPr>
            <p:cNvSpPr txBox="1"/>
            <p:nvPr/>
          </p:nvSpPr>
          <p:spPr>
            <a:xfrm>
              <a:off x="3822549" y="5483028"/>
              <a:ext cx="4891526" cy="59227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Conclusion and Future Scope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EE87FCF-6A51-9005-163C-5E3B5C1257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8229530" y="5002476"/>
              <a:ext cx="455841" cy="536286"/>
            </a:xfrm>
            <a:prstGeom prst="rect">
              <a:avLst/>
            </a:prstGeom>
          </p:spPr>
        </p:pic>
        <p:sp>
          <p:nvSpPr>
            <p:cNvPr id="28" name="Content Placeholder 11">
              <a:extLst>
                <a:ext uri="{FF2B5EF4-FFF2-40B4-BE49-F238E27FC236}">
                  <a16:creationId xmlns:a16="http://schemas.microsoft.com/office/drawing/2014/main" id="{F1211E34-5F1E-9B5C-4C59-2549F412DCD1}"/>
                </a:ext>
              </a:extLst>
            </p:cNvPr>
            <p:cNvSpPr txBox="1">
              <a:spLocks/>
            </p:cNvSpPr>
            <p:nvPr/>
          </p:nvSpPr>
          <p:spPr>
            <a:xfrm>
              <a:off x="1929643" y="1656655"/>
              <a:ext cx="3548330" cy="74899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 cap="flat" cmpd="sng" algn="ctr">
              <a:solidFill>
                <a:schemeClr val="accent4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Problem Statement</a:t>
              </a: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31" name="Content Placeholder 11">
              <a:extLst>
                <a:ext uri="{FF2B5EF4-FFF2-40B4-BE49-F238E27FC236}">
                  <a16:creationId xmlns:a16="http://schemas.microsoft.com/office/drawing/2014/main" id="{4D713724-2EA7-CA04-47B9-F63B3DAC496D}"/>
                </a:ext>
              </a:extLst>
            </p:cNvPr>
            <p:cNvSpPr txBox="1">
              <a:spLocks/>
            </p:cNvSpPr>
            <p:nvPr/>
          </p:nvSpPr>
          <p:spPr>
            <a:xfrm>
              <a:off x="2209801" y="2217836"/>
              <a:ext cx="3886200" cy="66622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 cap="flat" cmpd="sng" algn="ctr">
              <a:solidFill>
                <a:schemeClr val="accent4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Objectives</a:t>
              </a: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55B3B570-3194-94D5-869B-2F3E3E133B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683523" y="4358877"/>
              <a:ext cx="455841" cy="536286"/>
            </a:xfrm>
            <a:prstGeom prst="rect">
              <a:avLst/>
            </a:prstGeom>
          </p:spPr>
        </p:pic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A01B3509-5090-7764-12FF-0CDB13E360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229942" y="3813495"/>
              <a:ext cx="455841" cy="536286"/>
            </a:xfrm>
            <a:prstGeom prst="rect">
              <a:avLst/>
            </a:prstGeom>
          </p:spPr>
        </p:pic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4A5FDD7E-5A46-92A5-C963-19E091BBF7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836570" y="3357099"/>
              <a:ext cx="455841" cy="536286"/>
            </a:xfrm>
            <a:prstGeom prst="rect">
              <a:avLst/>
            </a:prstGeom>
          </p:spPr>
        </p:pic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C50C5009-E2F0-E358-4C45-CAEADDEC93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443196" y="2766955"/>
              <a:ext cx="455841" cy="536286"/>
            </a:xfrm>
            <a:prstGeom prst="rect">
              <a:avLst/>
            </a:prstGeom>
          </p:spPr>
        </p:pic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F1D91F2F-C2FB-3146-467B-21A20C841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040392" y="2252522"/>
              <a:ext cx="455841" cy="536286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7B0FD951-BFA0-1228-E572-2BFE866AEE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5626122" y="1721293"/>
              <a:ext cx="455841" cy="536286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6F380C-3238-E430-3C22-3C23884CE532}"/>
                </a:ext>
              </a:extLst>
            </p:cNvPr>
            <p:cNvSpPr txBox="1"/>
            <p:nvPr/>
          </p:nvSpPr>
          <p:spPr>
            <a:xfrm>
              <a:off x="2490411" y="2773626"/>
              <a:ext cx="4004225" cy="50687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4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Existing System</a:t>
              </a:r>
              <a:endParaRPr kumimoji="0" lang="en-US" sz="204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</p:grp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C044B753-17EC-8A45-927F-C44CC40ED5BA}"/>
              </a:ext>
            </a:extLst>
          </p:cNvPr>
          <p:cNvGraphicFramePr/>
          <p:nvPr/>
        </p:nvGraphicFramePr>
        <p:xfrm>
          <a:off x="41510" y="115414"/>
          <a:ext cx="1474694" cy="942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B4D1914-919F-D842-1FC2-1BBFC0E95C2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9380" y="0"/>
            <a:ext cx="190111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6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C8F81-5402-FBBE-D32A-834F3C6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614DC-364B-1BD9-B452-BC2E55FD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22E8B8-54AE-F861-D576-B62C19A55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0E259-4615-46D4-A3BD-7CF5E55937D6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3DF040-570B-E40C-28DD-48ACF4776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450DC-5C76-3221-3705-A7713237D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3</a:t>
            </a:fld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B58DBC-97DD-CAE2-6032-D8BF2561F46C}"/>
              </a:ext>
            </a:extLst>
          </p:cNvPr>
          <p:cNvSpPr/>
          <p:nvPr/>
        </p:nvSpPr>
        <p:spPr>
          <a:xfrm>
            <a:off x="3834920" y="136525"/>
            <a:ext cx="410512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76506A-DBAB-8B3E-C48B-9AF465FF8B71}"/>
              </a:ext>
            </a:extLst>
          </p:cNvPr>
          <p:cNvSpPr txBox="1"/>
          <p:nvPr/>
        </p:nvSpPr>
        <p:spPr>
          <a:xfrm>
            <a:off x="1179872" y="2100968"/>
            <a:ext cx="961594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dirty="0"/>
              <a:t>Traditional ML applications usually deploy a </a:t>
            </a:r>
            <a:r>
              <a:rPr lang="en-IN" sz="2000" b="1" dirty="0"/>
              <a:t>single model</a:t>
            </a:r>
            <a:r>
              <a:rPr lang="en-IN" sz="2000" dirty="0"/>
              <a:t>, often selected based mainly on accuracy. However, different models have different </a:t>
            </a:r>
            <a:r>
              <a:rPr lang="en-IN" sz="2000" b="1" dirty="0"/>
              <a:t>accuracy, latency, CPU, and memory requirements</a:t>
            </a:r>
            <a:r>
              <a:rPr lang="en-IN" sz="2000" dirty="0"/>
              <a:t>.</a:t>
            </a:r>
          </a:p>
          <a:p>
            <a:pPr algn="just"/>
            <a:r>
              <a:rPr lang="en-IN" sz="2000" dirty="0"/>
              <a:t>When workload or system conditions change, the initially selected model may no longer satisfy the application's performance requirements.</a:t>
            </a:r>
          </a:p>
          <a:p>
            <a:pPr algn="just"/>
            <a:r>
              <a:rPr lang="en-IN" sz="2000" dirty="0"/>
              <a:t>A system is therefore needed that can </a:t>
            </a:r>
            <a:r>
              <a:rPr lang="en-IN" sz="2000" b="1" dirty="0"/>
              <a:t>automatically select and switch between ML models according to runtime conditions</a:t>
            </a:r>
            <a:r>
              <a:rPr lang="en-IN" sz="2000" dirty="0"/>
              <a:t>, while avoiding unnecessary and frequent switching.</a:t>
            </a:r>
          </a:p>
        </p:txBody>
      </p:sp>
    </p:spTree>
    <p:extLst>
      <p:ext uri="{BB962C8B-B14F-4D97-AF65-F5344CB8AC3E}">
        <p14:creationId xmlns:p14="http://schemas.microsoft.com/office/powerpoint/2010/main" val="1843937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F34-8CFC-8161-A3CD-DED259C9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2C6E66-DFCA-CBBA-3972-F62C5800A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1EEFAC-0ECA-A18F-A4B4-033D37111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399FE-9025-4738-A866-75F92FF5600E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FD4BC-7EB9-607E-38E4-8C64E6E11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C535C-1312-10F3-FBDA-B7001433D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4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DE4BBA-6735-AAC4-BA57-E76FE3B3CF7A}"/>
              </a:ext>
            </a:extLst>
          </p:cNvPr>
          <p:cNvSpPr/>
          <p:nvPr/>
        </p:nvSpPr>
        <p:spPr>
          <a:xfrm>
            <a:off x="3845080" y="122680"/>
            <a:ext cx="410512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5A8EF-C291-E978-659D-739BE3013444}"/>
              </a:ext>
            </a:extLst>
          </p:cNvPr>
          <p:cNvSpPr txBox="1"/>
          <p:nvPr/>
        </p:nvSpPr>
        <p:spPr>
          <a:xfrm>
            <a:off x="1236406" y="1705451"/>
            <a:ext cx="10117394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Main</a:t>
            </a:r>
            <a:r>
              <a:rPr lang="en-IN" b="1" dirty="0"/>
              <a:t> </a:t>
            </a:r>
            <a:r>
              <a:rPr lang="en-IN" sz="2000" b="1" dirty="0"/>
              <a:t>objectives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Develop multiple ML models</a:t>
            </a:r>
            <a:r>
              <a:rPr lang="en-IN" sz="2000" dirty="0"/>
              <a:t> for the same prediction task.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Monitor </a:t>
            </a:r>
            <a:r>
              <a:rPr lang="en-IN" sz="2000" b="1" dirty="0"/>
              <a:t>accuracy, latency, CPU, memory, and workload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Define an </a:t>
            </a:r>
            <a:r>
              <a:rPr lang="en-IN" sz="2000" b="1" dirty="0"/>
              <a:t>SLA</a:t>
            </a:r>
            <a:r>
              <a:rPr lang="en-IN" sz="2000" dirty="0"/>
              <a:t> for the application.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Dynamically select the model that best satisfies the SLA.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Use </a:t>
            </a:r>
            <a:r>
              <a:rPr lang="en-IN" sz="2000" b="1" dirty="0"/>
              <a:t>MAPE-K</a:t>
            </a:r>
            <a:r>
              <a:rPr lang="en-IN" sz="2000" dirty="0"/>
              <a:t> to continuously monitor and adapt the system.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Prevent unnecessary model switching using a </a:t>
            </a:r>
            <a:r>
              <a:rPr lang="en-IN" sz="2000" b="1" dirty="0"/>
              <a:t>stability mechanism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Compare the adaptive system against a </a:t>
            </a:r>
            <a:r>
              <a:rPr lang="en-IN" sz="2000" b="1" dirty="0"/>
              <a:t>fixed-model baseline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Measure improvements in </a:t>
            </a:r>
            <a:r>
              <a:rPr lang="en-IN" sz="2000" b="1" dirty="0"/>
              <a:t>latency, resource utilization, SLA violations, and prediction quality</a:t>
            </a:r>
            <a:r>
              <a:rPr lang="en-IN" sz="2000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778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0FDE360-66C4-26CA-5DB9-8E99C2685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E2E2B-EEBE-417C-831B-9A36F38228DC}" type="datetime1">
              <a:rPr lang="en-US" smtClean="0"/>
              <a:t>9/17/2026</a:t>
            </a:fld>
            <a:endParaRPr lang="en-IN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F095753-622E-2BA7-9495-60F9B6E57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  <a:endParaRPr lang="en-IN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84944-5437-9E89-7017-F3DB9CA91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A418F-4DEE-4BB1-940B-1145D135750E}" type="slidenum">
              <a:rPr lang="en-IN" smtClean="0"/>
              <a:t>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3EBAEA-8DC6-8F54-F0D6-38F9643BD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4399D-42EB-45BD-D43F-A5AE14D447C0}"/>
              </a:ext>
            </a:extLst>
          </p:cNvPr>
          <p:cNvSpPr/>
          <p:nvPr/>
        </p:nvSpPr>
        <p:spPr>
          <a:xfrm>
            <a:off x="3773960" y="28819"/>
            <a:ext cx="4105120" cy="59373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Existing System</a:t>
            </a:r>
            <a:endParaRPr lang="en-IN" sz="28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55B6A-3CD4-67D4-ECFE-9BEDE09A7D50}"/>
              </a:ext>
            </a:extLst>
          </p:cNvPr>
          <p:cNvSpPr txBox="1"/>
          <p:nvPr/>
        </p:nvSpPr>
        <p:spPr>
          <a:xfrm>
            <a:off x="1408097" y="2321004"/>
            <a:ext cx="981259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Uses a </a:t>
            </a:r>
            <a:r>
              <a:rPr lang="en-IN" sz="2000" b="1" dirty="0"/>
              <a:t>fixed or pre-selected ML model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Model selection is mainly based on </a:t>
            </a:r>
            <a:r>
              <a:rPr lang="en-IN" sz="2000" b="1" dirty="0"/>
              <a:t>offline evaluation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Runtime workload and resource conditions are not continuously considered.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High-accuracy models may cause increased </a:t>
            </a:r>
            <a:r>
              <a:rPr lang="en-IN" sz="2000" b="1" dirty="0"/>
              <a:t>latency and resource usage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Runtime changes can result in </a:t>
            </a:r>
            <a:r>
              <a:rPr lang="en-IN" sz="2000" b="1" dirty="0"/>
              <a:t>SLA violations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No stability-aware mechanism for managing model adaptation.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277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F2FA-32F2-6715-843F-6ACC796D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77B92A-0C12-D39A-8847-98719E7B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EF7CC6-A232-6F78-D877-F4139E33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82076-AD1E-4D44-9D37-ACCF737AE8A4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1B73B0-000A-32FB-5643-CD5676D4A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1E0BD-2CF1-90B0-91FF-80A63764D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6</a:t>
            </a:fld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00B50F-4223-2213-E4CD-57D228BCA0B6}"/>
              </a:ext>
            </a:extLst>
          </p:cNvPr>
          <p:cNvSpPr/>
          <p:nvPr/>
        </p:nvSpPr>
        <p:spPr>
          <a:xfrm>
            <a:off x="3352320" y="268328"/>
            <a:ext cx="525828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45F4FE-02F6-17C7-8FAD-B4ED14D1C450}"/>
              </a:ext>
            </a:extLst>
          </p:cNvPr>
          <p:cNvSpPr txBox="1"/>
          <p:nvPr/>
        </p:nvSpPr>
        <p:spPr>
          <a:xfrm>
            <a:off x="1061885" y="2182999"/>
            <a:ext cx="9822425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Deploys </a:t>
            </a:r>
            <a:r>
              <a:rPr lang="en-IN" sz="2000" b="1" dirty="0"/>
              <a:t>multiple ML models</a:t>
            </a:r>
            <a:r>
              <a:rPr lang="en-IN" sz="2000" dirty="0"/>
              <a:t> with different performance characteristics.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Continuously monitors </a:t>
            </a:r>
            <a:r>
              <a:rPr lang="en-IN" sz="2000" b="1" dirty="0"/>
              <a:t>accuracy, latency, CPU, memory, and workload</a:t>
            </a:r>
            <a:r>
              <a:rPr lang="en-IN" sz="2000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Uses SLA constraints to determine whether the current model is suitable.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MAPE-K</a:t>
            </a:r>
            <a:r>
              <a:rPr lang="en-IN" sz="2000" dirty="0"/>
              <a:t> </a:t>
            </a:r>
            <a:r>
              <a:rPr lang="en-IN" sz="2000" dirty="0" err="1"/>
              <a:t>analyzes</a:t>
            </a:r>
            <a:r>
              <a:rPr lang="en-IN" sz="2000" dirty="0"/>
              <a:t> runtime conditions and plans adaptation.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Selects a model that satisfies the current SLA requirements.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/>
              <a:t>Uses </a:t>
            </a:r>
            <a:r>
              <a:rPr lang="en-IN" sz="2000" b="1" dirty="0"/>
              <a:t>persistence detection, cooldown, and hysteresis</a:t>
            </a:r>
            <a:r>
              <a:rPr lang="en-IN" sz="2000" dirty="0"/>
              <a:t> to avoid unnecessary switching.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5876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C6D84-077B-7007-4B63-807557EC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C5F926-1E4C-4031-B9E9-6A17F126A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8788A6-87D6-D1AD-CD09-882273D2C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8917A-4773-4F0C-BADF-AB7FA9859A31}" type="datetime1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64A259-1A89-35BF-04C0-AB6DECF4E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95C214-DB26-4476-F790-7E558BB67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7</a:t>
            </a:fld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FE5EF9-EC7B-4BF5-92FE-E68EC6C8C5B2}"/>
              </a:ext>
            </a:extLst>
          </p:cNvPr>
          <p:cNvSpPr/>
          <p:nvPr/>
        </p:nvSpPr>
        <p:spPr>
          <a:xfrm>
            <a:off x="2682240" y="136525"/>
            <a:ext cx="6303999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EC7E93-E7E0-780E-3B01-259290345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329031"/>
              </p:ext>
            </p:extLst>
          </p:nvPr>
        </p:nvGraphicFramePr>
        <p:xfrm>
          <a:off x="928719" y="1391871"/>
          <a:ext cx="10425080" cy="4379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12540">
                  <a:extLst>
                    <a:ext uri="{9D8B030D-6E8A-4147-A177-3AD203B41FA5}">
                      <a16:colId xmlns:a16="http://schemas.microsoft.com/office/drawing/2014/main" val="816289486"/>
                    </a:ext>
                  </a:extLst>
                </a:gridCol>
                <a:gridCol w="5212540">
                  <a:extLst>
                    <a:ext uri="{9D8B030D-6E8A-4147-A177-3AD203B41FA5}">
                      <a16:colId xmlns:a16="http://schemas.microsoft.com/office/drawing/2014/main" val="357603814"/>
                    </a:ext>
                  </a:extLst>
                </a:gridCol>
              </a:tblGrid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Technology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Purpose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120847944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Python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ML model development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112048505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Scikit-learn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ML model implementation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553487519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XGBoost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High-accuracy ML model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594829294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FastAPI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Prediction REST API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521559970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React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Monitoring dashboard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793791243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PostgreSQL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Store metrics and adaptation history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310691374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Prometheus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Runtime metric collection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192637883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Docker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Containerization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490597596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Git/GitHub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Version control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89863780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GitHub Actions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CI/CD automation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606679585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Trivy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Security scanning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227332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413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A2CC-2C9A-D968-2F38-FFC4A7D2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71D25F-D310-56FA-A58E-B7B79C7D8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AFF3A1-5C1B-139E-D79A-72B884780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6ED1E-D5CF-4737-9463-A65281469B97}" type="datetime1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EC70D-1363-E80E-D957-B7196CB13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1C404-5E3A-5943-D47B-EDA9706D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8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DA611A3-C40B-C4D0-FC5B-A6E3CFDFC96B}"/>
              </a:ext>
            </a:extLst>
          </p:cNvPr>
          <p:cNvSpPr/>
          <p:nvPr/>
        </p:nvSpPr>
        <p:spPr>
          <a:xfrm>
            <a:off x="2682240" y="136525"/>
            <a:ext cx="6303999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/ Architecture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2F4206-440A-F38E-FCE4-282A2D6A0D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1107440"/>
            <a:ext cx="11521440" cy="532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855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C8BAF-CEDF-4AEB-BAFC-BCEFB06AF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E416C-DDB0-D50F-B9D0-60CD161F7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5593F-363B-C8EA-7606-B0C7A59E7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9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B585E25-464D-1E93-80D6-16D66ADB5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1640" y="415925"/>
            <a:ext cx="6446520" cy="72199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9342B55-FA2D-FE20-242C-487EBCA38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E855801-9066-E434-A0B9-02662701A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32" y="1137920"/>
            <a:ext cx="11484078" cy="5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332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B4B2A-E425-3513-DCD4-0F077245D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5440"/>
            <a:ext cx="10515600" cy="45615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Conclusion</a:t>
            </a:r>
          </a:p>
          <a:p>
            <a:pPr lvl="0"/>
            <a:r>
              <a:rPr lang="en-IN" dirty="0"/>
              <a:t>Provides </a:t>
            </a:r>
            <a:r>
              <a:rPr lang="en-IN" b="1" dirty="0"/>
              <a:t>dynamic ML model selection</a:t>
            </a:r>
            <a:r>
              <a:rPr lang="en-IN" dirty="0"/>
              <a:t> based on runtime conditions. </a:t>
            </a:r>
          </a:p>
          <a:p>
            <a:pPr lvl="0"/>
            <a:r>
              <a:rPr lang="en-IN" dirty="0"/>
              <a:t>Uses </a:t>
            </a:r>
            <a:r>
              <a:rPr lang="en-IN" b="1" dirty="0"/>
              <a:t>MAPE-K</a:t>
            </a:r>
            <a:r>
              <a:rPr lang="en-IN" dirty="0"/>
              <a:t> for continuous self-adaptation. </a:t>
            </a:r>
          </a:p>
          <a:p>
            <a:pPr lvl="0"/>
            <a:r>
              <a:rPr lang="en-IN" dirty="0"/>
              <a:t>Ensures selected models satisfy defined </a:t>
            </a:r>
            <a:r>
              <a:rPr lang="en-IN" b="1" dirty="0"/>
              <a:t>SLA requirements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Balances </a:t>
            </a:r>
            <a:r>
              <a:rPr lang="en-IN" b="1" dirty="0"/>
              <a:t>accuracy, latency, and resource utilization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Persistence detection, cooldown, and hysteresis improve system stability. </a:t>
            </a:r>
          </a:p>
          <a:p>
            <a:pPr lvl="0"/>
            <a:r>
              <a:rPr lang="en-IN" dirty="0"/>
              <a:t>Reduces the limitations of a fixed-model deployment approach. </a:t>
            </a:r>
          </a:p>
          <a:p>
            <a:pPr marL="0" indent="0">
              <a:buNone/>
            </a:pPr>
            <a:r>
              <a:rPr lang="en-IN" b="1" dirty="0"/>
              <a:t>Future Scope</a:t>
            </a:r>
          </a:p>
          <a:p>
            <a:pPr lvl="0"/>
            <a:r>
              <a:rPr lang="en-IN" dirty="0"/>
              <a:t>Use </a:t>
            </a:r>
            <a:r>
              <a:rPr lang="en-IN" b="1" dirty="0"/>
              <a:t>ML/RL-based model selection</a:t>
            </a:r>
            <a:r>
              <a:rPr lang="en-IN" dirty="0"/>
              <a:t> instead of fixed decision rules. </a:t>
            </a:r>
          </a:p>
          <a:p>
            <a:pPr lvl="0"/>
            <a:r>
              <a:rPr lang="en-IN" dirty="0"/>
              <a:t>Predict workload changes before SLA violations occur. </a:t>
            </a:r>
          </a:p>
          <a:p>
            <a:pPr lvl="0"/>
            <a:r>
              <a:rPr lang="en-IN" dirty="0"/>
              <a:t>Include GPU, memory, and </a:t>
            </a:r>
            <a:r>
              <a:rPr lang="en-IN" b="1" dirty="0"/>
              <a:t>energy consumption</a:t>
            </a:r>
            <a:r>
              <a:rPr lang="en-IN" dirty="0"/>
              <a:t> in adaptation decisions. </a:t>
            </a:r>
          </a:p>
          <a:p>
            <a:pPr lvl="0"/>
            <a:r>
              <a:rPr lang="en-IN" dirty="0"/>
              <a:t>Support more models and complex workloads. </a:t>
            </a:r>
          </a:p>
          <a:p>
            <a:pPr lvl="0"/>
            <a:r>
              <a:rPr lang="en-IN" dirty="0"/>
              <a:t>Extend the system to </a:t>
            </a:r>
            <a:r>
              <a:rPr lang="en-IN" b="1" dirty="0"/>
              <a:t>distributed and cloud environments</a:t>
            </a:r>
            <a:r>
              <a:rPr lang="en-IN" dirty="0"/>
              <a:t>. </a:t>
            </a:r>
          </a:p>
          <a:p>
            <a:pPr lvl="0"/>
            <a:r>
              <a:rPr lang="en-IN" dirty="0"/>
              <a:t>Improve adaptation using historical performance data.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D3E38-D409-C6BA-EE2B-43567E87E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77A13-1B51-C1A4-EFDA-F64E9B145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4BD45-A2DE-CF9A-2BBF-810E6C8C6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10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8F2C03F-B8C8-F061-844F-A565A49B7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80" y="406400"/>
            <a:ext cx="6985000" cy="81280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</a:p>
        </p:txBody>
      </p:sp>
    </p:spTree>
    <p:extLst>
      <p:ext uri="{BB962C8B-B14F-4D97-AF65-F5344CB8AC3E}">
        <p14:creationId xmlns:p14="http://schemas.microsoft.com/office/powerpoint/2010/main" val="3962506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576</Words>
  <Application>Microsoft Office PowerPoint</Application>
  <PresentationFormat>Widescreen</PresentationFormat>
  <Paragraphs>134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Modules</vt:lpstr>
      <vt:lpstr>Conclusion and Future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Kandiga Suresh</cp:lastModifiedBy>
  <cp:revision>39</cp:revision>
  <dcterms:created xsi:type="dcterms:W3CDTF">2026-08-08T06:33:56Z</dcterms:created>
  <dcterms:modified xsi:type="dcterms:W3CDTF">2026-09-17T13:07:27Z</dcterms:modified>
</cp:coreProperties>
</file>