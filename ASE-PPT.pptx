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  <p:sldId id="9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F904-3F1F-4281-A9E1-C2FB746B8BF7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6D309-B4D5-4527-B36F-A10579509D53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5E381-5B31-4AF8-B2D5-825A2871D21A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F223-DE04-43B3-A1CA-82C024222846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C939F-6452-40B3-8B30-A5C8AB6A0DFC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805D-913B-4F6D-902C-E5136FBF0E0C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B214-4124-49D8-A24E-DBA27A6445C3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956CC-F7C8-47FB-89A1-FBAE32B2A8EB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10B40-B78B-4C4B-BDCF-3CB98651AC41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C7294-1103-4E07-87C3-AC60860F3AE3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1251-3688-4348-9E3A-30E567D55C4D}" type="datetime1">
              <a:rPr lang="en-US" smtClean="0"/>
              <a:t>9/17/2026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BFDF-CDE2-40CB-8FA4-3CBB1CF54A9D}" type="datetime1">
              <a:rPr lang="en-US" smtClean="0"/>
              <a:t>9/17/2026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7594-F345-470B-9851-AAB51F8A07D1}" type="datetime1">
              <a:rPr lang="en-US" smtClean="0"/>
              <a:t>9/17/2026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4D82-1E80-4D9B-9F48-1603FF32D29B}" type="datetime1">
              <a:rPr lang="en-US" smtClean="0"/>
              <a:t>9/17/2026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91D6D-4517-4318-8E63-BA647FC73676}" type="datetime1">
              <a:rPr lang="en-US" smtClean="0"/>
              <a:t>9/17/2026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BE11-45C9-4A33-91D6-F834346F8230}" type="datetime1">
              <a:rPr lang="en-US" smtClean="0"/>
              <a:t>9/17/2026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F475-35D2-4DB4-B393-F0CB7E443F34}" type="datetime1">
              <a:rPr lang="en-US" smtClean="0"/>
              <a:t>9/17/2026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7173-3C06-4909-B7DB-53FA6C1C449E}" type="datetime1">
              <a:rPr lang="en-US" smtClean="0"/>
              <a:t>9/17/2026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B61D-E795-4B3F-91F2-8D80F4704BCD}" type="datetime1">
              <a:rPr lang="en-US" smtClean="0"/>
              <a:t>9/17/2026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192F9-85A8-474E-9101-6E509395F1D7}" type="datetime1">
              <a:rPr lang="en-US" smtClean="0"/>
              <a:t>9/17/2026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09B4-E520-4CE3-B3CD-968466114F87}" type="datetime1">
              <a:rPr lang="en-US" smtClean="0"/>
              <a:t>9/17/2026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BE44B-A080-444E-B2F8-66835D348D22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F9358-0389-4EC9-8C09-403CD6E20950}" type="datetime1">
              <a:rPr lang="en-US" smtClean="0"/>
              <a:t>9/17/2026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297677"/>
              </p:ext>
            </p:extLst>
          </p:nvPr>
        </p:nvGraphicFramePr>
        <p:xfrm>
          <a:off x="8193271" y="4898509"/>
          <a:ext cx="3702050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 Srimaan-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2420030418</a:t>
                      </a:r>
                      <a:b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</a:br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 Suresh  -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2420030229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 Jai Tej  -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2420030393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719861"/>
              </p:ext>
            </p:extLst>
          </p:nvPr>
        </p:nvGraphicFramePr>
        <p:xfrm>
          <a:off x="-795813" y="4774125"/>
          <a:ext cx="590232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5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R. Chandra Shekhar</a:t>
                      </a:r>
                      <a:br>
                        <a:rPr lang="en-US" sz="15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</a:br>
                      <a:r>
                        <a:rPr lang="en-US" sz="15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CSE,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1D8D-77C0-43B9-9B5F-E46EDA00679A}" type="datetime1">
              <a:rPr lang="en-US" b="1" smtClean="0"/>
              <a:t>9/17/2026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CNAD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4" y="766613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660516" y="975485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SLA-Aware Stable Adaptive ML Model Selection Using MAPE-K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199745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C1F5F2-ECD8-4C6D-ADBC-EC676B29AED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9/17/2026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CNAD Project Review-1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18651"/>
            <a:chOff x="1929643" y="1656655"/>
            <a:chExt cx="6784432" cy="441865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45698" y="3289875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Proposed System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49188" y="3880017"/>
              <a:ext cx="4374693" cy="73507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Technology Used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Workflow / Architecture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Modules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59227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and Future Scope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Statement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Objectives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36570" y="3357099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4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Existing System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2E8B8-54AE-F861-D576-B62C19A5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E259-4615-46D4-A3BD-7CF5E55937D6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DF040-570B-E40C-28DD-48ACF477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50DC-5C76-3221-3705-A7713237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B58DBC-97DD-CAE2-6032-D8BF2561F46C}"/>
              </a:ext>
            </a:extLst>
          </p:cNvPr>
          <p:cNvSpPr/>
          <p:nvPr/>
        </p:nvSpPr>
        <p:spPr>
          <a:xfrm>
            <a:off x="3834920" y="136525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6506A-DBAB-8B3E-C48B-9AF465FF8B71}"/>
              </a:ext>
            </a:extLst>
          </p:cNvPr>
          <p:cNvSpPr txBox="1"/>
          <p:nvPr/>
        </p:nvSpPr>
        <p:spPr>
          <a:xfrm>
            <a:off x="1179872" y="2100968"/>
            <a:ext cx="961594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/>
              <a:t>Traditional ML applications usually deploy a </a:t>
            </a:r>
            <a:r>
              <a:rPr lang="en-IN" sz="2000" b="1" dirty="0"/>
              <a:t>single model</a:t>
            </a:r>
            <a:r>
              <a:rPr lang="en-IN" sz="2000" dirty="0"/>
              <a:t>, often selected based mainly on accuracy. However, different models have different </a:t>
            </a:r>
            <a:r>
              <a:rPr lang="en-IN" sz="2000" b="1" dirty="0"/>
              <a:t>accuracy, latency, CPU, and memory requirements</a:t>
            </a:r>
            <a:r>
              <a:rPr lang="en-IN" sz="2000" dirty="0"/>
              <a:t>.</a:t>
            </a:r>
          </a:p>
          <a:p>
            <a:pPr algn="just"/>
            <a:r>
              <a:rPr lang="en-IN" sz="2000" dirty="0"/>
              <a:t>When workload or system conditions change, the initially selected model may no longer satisfy the application's performance requirements.</a:t>
            </a:r>
          </a:p>
          <a:p>
            <a:pPr algn="just"/>
            <a:r>
              <a:rPr lang="en-IN" sz="2000" dirty="0"/>
              <a:t>A system is therefore needed that can </a:t>
            </a:r>
            <a:r>
              <a:rPr lang="en-IN" sz="2000" b="1" dirty="0"/>
              <a:t>automatically select and switch between ML models according to runtime conditions</a:t>
            </a:r>
            <a:r>
              <a:rPr lang="en-IN" sz="2000" dirty="0"/>
              <a:t>, while avoiding unnecessary and frequent switching.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EEFAC-0ECA-A18F-A4B4-033D3711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99FE-9025-4738-A866-75F92FF5600E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FD4BC-7EB9-607E-38E4-8C64E6E1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C535C-1312-10F3-FBDA-B7001433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DE4BBA-6735-AAC4-BA57-E76FE3B3CF7A}"/>
              </a:ext>
            </a:extLst>
          </p:cNvPr>
          <p:cNvSpPr/>
          <p:nvPr/>
        </p:nvSpPr>
        <p:spPr>
          <a:xfrm>
            <a:off x="3845080" y="122680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5A8EF-C291-E978-659D-739BE3013444}"/>
              </a:ext>
            </a:extLst>
          </p:cNvPr>
          <p:cNvSpPr txBox="1"/>
          <p:nvPr/>
        </p:nvSpPr>
        <p:spPr>
          <a:xfrm>
            <a:off x="1236406" y="1705451"/>
            <a:ext cx="1011739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Main</a:t>
            </a:r>
            <a:r>
              <a:rPr lang="en-IN" b="1" dirty="0"/>
              <a:t> </a:t>
            </a:r>
            <a:r>
              <a:rPr lang="en-IN" sz="2000" b="1" dirty="0"/>
              <a:t>objectives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Develop multiple ML models</a:t>
            </a:r>
            <a:r>
              <a:rPr lang="en-IN" sz="2000" dirty="0"/>
              <a:t> for the same prediction task.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Monitor </a:t>
            </a:r>
            <a:r>
              <a:rPr lang="en-IN" sz="2000" b="1" dirty="0"/>
              <a:t>accuracy, latency, CPU, memory, and workload</a:t>
            </a:r>
            <a:r>
              <a:rPr lang="en-IN" sz="20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Define an </a:t>
            </a:r>
            <a:r>
              <a:rPr lang="en-IN" sz="2000" b="1" dirty="0"/>
              <a:t>SLA</a:t>
            </a:r>
            <a:r>
              <a:rPr lang="en-IN" sz="2000" dirty="0"/>
              <a:t> for the application.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Dynamically select the model that best satisfies the SLA.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Use </a:t>
            </a:r>
            <a:r>
              <a:rPr lang="en-IN" sz="2000" b="1" dirty="0"/>
              <a:t>MAPE-K</a:t>
            </a:r>
            <a:r>
              <a:rPr lang="en-IN" sz="2000" dirty="0"/>
              <a:t> to continuously monitor and adapt the system.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Prevent unnecessary model switching using a </a:t>
            </a:r>
            <a:r>
              <a:rPr lang="en-IN" sz="2000" b="1" dirty="0"/>
              <a:t>stability mechanism</a:t>
            </a:r>
            <a:r>
              <a:rPr lang="en-IN" sz="20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Compare the adaptive system against a </a:t>
            </a:r>
            <a:r>
              <a:rPr lang="en-IN" sz="2000" b="1" dirty="0"/>
              <a:t>fixed-model baseline</a:t>
            </a:r>
            <a:r>
              <a:rPr lang="en-IN" sz="20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Measure improvements in </a:t>
            </a:r>
            <a:r>
              <a:rPr lang="en-IN" sz="2000" b="1" dirty="0"/>
              <a:t>latency, resource utilization, SLA violations, and prediction quality</a:t>
            </a:r>
            <a:r>
              <a:rPr lang="en-IN" sz="20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2E2B-EEBE-417C-831B-9A36F38228DC}" type="datetime1">
              <a:rPr lang="en-US" smtClean="0"/>
              <a:t>9/17/2026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04399D-42EB-45BD-D43F-A5AE14D447C0}"/>
              </a:ext>
            </a:extLst>
          </p:cNvPr>
          <p:cNvSpPr/>
          <p:nvPr/>
        </p:nvSpPr>
        <p:spPr>
          <a:xfrm>
            <a:off x="3773960" y="28819"/>
            <a:ext cx="4105120" cy="59373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Existing System</a:t>
            </a:r>
            <a:endParaRPr lang="en-IN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55B6A-3CD4-67D4-ECFE-9BEDE09A7D50}"/>
              </a:ext>
            </a:extLst>
          </p:cNvPr>
          <p:cNvSpPr txBox="1"/>
          <p:nvPr/>
        </p:nvSpPr>
        <p:spPr>
          <a:xfrm>
            <a:off x="1408097" y="2321004"/>
            <a:ext cx="981259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Uses a </a:t>
            </a:r>
            <a:r>
              <a:rPr lang="en-IN" sz="2000" b="1" dirty="0"/>
              <a:t>fixed or pre-selected ML model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Model selection is mainly based on </a:t>
            </a:r>
            <a:r>
              <a:rPr lang="en-IN" sz="2000" b="1" dirty="0"/>
              <a:t>offline evaluation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Runtime workload and resource conditions are not continuously considered.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High-accuracy models may cause increased </a:t>
            </a:r>
            <a:r>
              <a:rPr lang="en-IN" sz="2000" b="1" dirty="0"/>
              <a:t>latency and resource usage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Runtime changes can result in </a:t>
            </a:r>
            <a:r>
              <a:rPr lang="en-IN" sz="2000" b="1" dirty="0"/>
              <a:t>SLA violations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No stability-aware mechanism for managing model adaptation.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F7CC6-A232-6F78-D877-F4139E33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076-AD1E-4D44-9D37-ACCF737AE8A4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B73B0-000A-32FB-5643-CD5676D4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1E0BD-2CF1-90B0-91FF-80A6376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6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00B50F-4223-2213-E4CD-57D228BCA0B6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5F4FE-02F6-17C7-8FAD-B4ED14D1C450}"/>
              </a:ext>
            </a:extLst>
          </p:cNvPr>
          <p:cNvSpPr txBox="1"/>
          <p:nvPr/>
        </p:nvSpPr>
        <p:spPr>
          <a:xfrm>
            <a:off x="1061885" y="2182999"/>
            <a:ext cx="9822425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Deploys </a:t>
            </a:r>
            <a:r>
              <a:rPr lang="en-IN" sz="2000" b="1" dirty="0"/>
              <a:t>multiple ML models</a:t>
            </a:r>
            <a:r>
              <a:rPr lang="en-IN" sz="2000" dirty="0"/>
              <a:t> with different performance characteristics.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Continuously monitors </a:t>
            </a:r>
            <a:r>
              <a:rPr lang="en-IN" sz="2000" b="1" dirty="0"/>
              <a:t>accuracy, latency, CPU, memory, and workload</a:t>
            </a:r>
            <a:r>
              <a:rPr lang="en-IN" sz="20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Uses SLA constraints to determine whether the current model is suitable.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MAPE-K</a:t>
            </a:r>
            <a:r>
              <a:rPr lang="en-IN" sz="2000" dirty="0"/>
              <a:t> </a:t>
            </a:r>
            <a:r>
              <a:rPr lang="en-IN" sz="2000" dirty="0" err="1"/>
              <a:t>analyzes</a:t>
            </a:r>
            <a:r>
              <a:rPr lang="en-IN" sz="2000" dirty="0"/>
              <a:t> runtime conditions and plans adaptation.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Selects a model that satisfies the current SLA requirements.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Uses </a:t>
            </a:r>
            <a:r>
              <a:rPr lang="en-IN" sz="2000" b="1" dirty="0"/>
              <a:t>persistence detection, cooldown, and hysteresis</a:t>
            </a:r>
            <a:r>
              <a:rPr lang="en-IN" sz="2000" dirty="0"/>
              <a:t> to avoid unnecessary switching.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788A6-87D6-D1AD-CD09-882273D2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8917A-4773-4F0C-BADF-AB7FA9859A31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4A259-1A89-35BF-04C0-AB6DECF4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5C214-DB26-4476-F790-7E558BB6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FE5EF9-EC7B-4BF5-92FE-E68EC6C8C5B2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EC7E93-E7E0-780E-3B01-259290345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329031"/>
              </p:ext>
            </p:extLst>
          </p:nvPr>
        </p:nvGraphicFramePr>
        <p:xfrm>
          <a:off x="928719" y="1391871"/>
          <a:ext cx="10425080" cy="4379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12540">
                  <a:extLst>
                    <a:ext uri="{9D8B030D-6E8A-4147-A177-3AD203B41FA5}">
                      <a16:colId xmlns:a16="http://schemas.microsoft.com/office/drawing/2014/main" val="816289486"/>
                    </a:ext>
                  </a:extLst>
                </a:gridCol>
                <a:gridCol w="5212540">
                  <a:extLst>
                    <a:ext uri="{9D8B030D-6E8A-4147-A177-3AD203B41FA5}">
                      <a16:colId xmlns:a16="http://schemas.microsoft.com/office/drawing/2014/main" val="357603814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Technology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Purpose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12084794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Python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ML model development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11204850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Scikit-learn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ML model implementation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55348751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XGBoost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High-accuracy ML model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59482929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FastAPI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Prediction REST API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52155997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React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Monitoring dashboard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79379124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PostgreSQL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Store metrics and adaptation history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31069137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Prometheus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Runtime metric collection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19263788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Docker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Containerization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49059759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Git/GitHub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Version control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8986378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GitHub Actions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CI/CD automation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60667958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Trivy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Security scanning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227332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FF3A1-5C1B-139E-D79A-72B88478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EC70D-1363-E80E-D957-B7196CB1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1C404-5E3A-5943-D47B-EDA9706D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A611A3-C40B-C4D0-FC5B-A6E3CFDFC96B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/ Architecture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2F4206-440A-F38E-FCE4-282A2D6A0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1107440"/>
            <a:ext cx="11521440" cy="532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C8BAF-CEDF-4AEB-BAFC-BCEFB06AF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E416C-DDB0-D50F-B9D0-60CD161F7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5593F-363B-C8EA-7606-B0C7A59E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9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B585E25-464D-1E93-80D6-16D66ADB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1640" y="415925"/>
            <a:ext cx="6446520" cy="72199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9342B55-FA2D-FE20-242C-487EBCA38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855801-9066-E434-A0B9-02662701A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2" y="1137920"/>
            <a:ext cx="11484078" cy="5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32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B4B2A-E425-3513-DCD4-0F077245D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440"/>
            <a:ext cx="10515600" cy="456152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Conclusion</a:t>
            </a:r>
          </a:p>
          <a:p>
            <a:pPr lvl="0"/>
            <a:r>
              <a:rPr lang="en-IN" dirty="0"/>
              <a:t>Provides </a:t>
            </a:r>
            <a:r>
              <a:rPr lang="en-IN" b="1" dirty="0"/>
              <a:t>dynamic ML model selection</a:t>
            </a:r>
            <a:r>
              <a:rPr lang="en-IN" dirty="0"/>
              <a:t> based on runtime conditions. </a:t>
            </a:r>
          </a:p>
          <a:p>
            <a:pPr lvl="0"/>
            <a:r>
              <a:rPr lang="en-IN" dirty="0"/>
              <a:t>Uses </a:t>
            </a:r>
            <a:r>
              <a:rPr lang="en-IN" b="1" dirty="0"/>
              <a:t>MAPE-K</a:t>
            </a:r>
            <a:r>
              <a:rPr lang="en-IN" dirty="0"/>
              <a:t> for continuous self-adaptation. </a:t>
            </a:r>
          </a:p>
          <a:p>
            <a:pPr lvl="0"/>
            <a:r>
              <a:rPr lang="en-IN" dirty="0"/>
              <a:t>Ensures selected models satisfy defined </a:t>
            </a:r>
            <a:r>
              <a:rPr lang="en-IN" b="1" dirty="0"/>
              <a:t>SLA requirements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Balances </a:t>
            </a:r>
            <a:r>
              <a:rPr lang="en-IN" b="1" dirty="0"/>
              <a:t>accuracy, latency, and resource utilization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Persistence detection, cooldown, and hysteresis improve system stability. </a:t>
            </a:r>
          </a:p>
          <a:p>
            <a:pPr lvl="0"/>
            <a:r>
              <a:rPr lang="en-IN" dirty="0"/>
              <a:t>Reduces the limitations of a fixed-model deployment approach. </a:t>
            </a:r>
          </a:p>
          <a:p>
            <a:pPr marL="0" indent="0">
              <a:buNone/>
            </a:pPr>
            <a:r>
              <a:rPr lang="en-IN" b="1" dirty="0"/>
              <a:t>Future Scope</a:t>
            </a:r>
          </a:p>
          <a:p>
            <a:pPr lvl="0"/>
            <a:r>
              <a:rPr lang="en-IN" dirty="0"/>
              <a:t>Use </a:t>
            </a:r>
            <a:r>
              <a:rPr lang="en-IN" b="1" dirty="0"/>
              <a:t>ML/RL-based model selection</a:t>
            </a:r>
            <a:r>
              <a:rPr lang="en-IN" dirty="0"/>
              <a:t> instead of fixed decision rules. </a:t>
            </a:r>
          </a:p>
          <a:p>
            <a:pPr lvl="0"/>
            <a:r>
              <a:rPr lang="en-IN" dirty="0"/>
              <a:t>Predict workload changes before SLA violations occur. </a:t>
            </a:r>
          </a:p>
          <a:p>
            <a:pPr lvl="0"/>
            <a:r>
              <a:rPr lang="en-IN" dirty="0"/>
              <a:t>Include GPU, memory, and </a:t>
            </a:r>
            <a:r>
              <a:rPr lang="en-IN" b="1" dirty="0"/>
              <a:t>energy consumption</a:t>
            </a:r>
            <a:r>
              <a:rPr lang="en-IN" dirty="0"/>
              <a:t> in adaptation decisions. </a:t>
            </a:r>
          </a:p>
          <a:p>
            <a:pPr lvl="0"/>
            <a:r>
              <a:rPr lang="en-IN" dirty="0"/>
              <a:t>Support more models and complex workloads. </a:t>
            </a:r>
          </a:p>
          <a:p>
            <a:pPr lvl="0"/>
            <a:r>
              <a:rPr lang="en-IN" dirty="0"/>
              <a:t>Extend the system to </a:t>
            </a:r>
            <a:r>
              <a:rPr lang="en-IN" b="1" dirty="0"/>
              <a:t>distributed and cloud environments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Improve adaptation using historical performance data.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D3E38-D409-C6BA-EE2B-43567E87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77A13-1B51-C1A4-EFDA-F64E9B145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4BD45-A2DE-CF9A-2BBF-810E6C8C6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8F2C03F-B8C8-F061-844F-A565A49B7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406400"/>
            <a:ext cx="6985000" cy="8128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</p:spTree>
    <p:extLst>
      <p:ext uri="{BB962C8B-B14F-4D97-AF65-F5344CB8AC3E}">
        <p14:creationId xmlns:p14="http://schemas.microsoft.com/office/powerpoint/2010/main" val="3962506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576</Words>
  <Application>Microsoft Office PowerPoint</Application>
  <PresentationFormat>Widescreen</PresentationFormat>
  <Paragraphs>134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Modules</vt:lpstr>
      <vt:lpstr>Conclusion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Kandiga Suresh</cp:lastModifiedBy>
  <cp:revision>39</cp:revision>
  <dcterms:created xsi:type="dcterms:W3CDTF">2026-08-08T06:33:56Z</dcterms:created>
  <dcterms:modified xsi:type="dcterms:W3CDTF">2026-09-17T13:13:22Z</dcterms:modified>
</cp:coreProperties>
</file>