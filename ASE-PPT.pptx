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3"/>
  </p:notesMasterIdLst>
  <p:sldIdLst>
    <p:sldId id="262" r:id="rId3"/>
    <p:sldId id="707" r:id="rId4"/>
    <p:sldId id="257" r:id="rId5"/>
    <p:sldId id="903" r:id="rId6"/>
    <p:sldId id="902" r:id="rId7"/>
    <p:sldId id="258" r:id="rId8"/>
    <p:sldId id="259" r:id="rId9"/>
    <p:sldId id="260" r:id="rId10"/>
    <p:sldId id="904" r:id="rId11"/>
    <p:sldId id="90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3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4B03022-1F30-4885-B78F-22C04F8A973E}" type="doc">
      <dgm:prSet loTypeId="urn:microsoft.com/office/officeart/2005/8/layout/venn3" loCatId="relationship" qsTypeId="urn:microsoft.com/office/officeart/2005/8/quickstyle/3d7#1" qsCatId="3D" csTypeId="urn:microsoft.com/office/officeart/2005/8/colors/colorful1#1" csCatId="colorful" phldr="1"/>
      <dgm:spPr/>
      <dgm:t>
        <a:bodyPr/>
        <a:lstStyle/>
        <a:p>
          <a:endParaRPr lang="en-IN"/>
        </a:p>
      </dgm:t>
    </dgm:pt>
    <dgm:pt modelId="{4094C340-BA43-4FE7-BEDC-37D235AAAD16}" type="pres">
      <dgm:prSet presAssocID="{84B03022-1F30-4885-B78F-22C04F8A973E}" presName="Name0" presStyleCnt="0">
        <dgm:presLayoutVars>
          <dgm:dir/>
          <dgm:resizeHandles val="exact"/>
        </dgm:presLayoutVars>
      </dgm:prSet>
      <dgm:spPr/>
    </dgm:pt>
  </dgm:ptLst>
  <dgm:cxnLst>
    <dgm:cxn modelId="{536B444D-E965-4C7A-901B-8D59695FE972}" type="presOf" srcId="{84B03022-1F30-4885-B78F-22C04F8A973E}" destId="{4094C340-BA43-4FE7-BEDC-37D235AAAD16}" srcOrd="0" destOrd="0" presId="urn:microsoft.com/office/officeart/2005/8/layout/venn3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3">
  <dgm:title val=""/>
  <dgm:desc val=""/>
  <dgm:catLst>
    <dgm:cat type="relationship" pri="2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fallback" val="2D"/>
        </dgm:alg>
      </dgm:if>
      <dgm:else name="Name3">
        <dgm:alg type="lin">
          <dgm:param type="fallback" val="2D"/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refType="w" refFor="ch" refPtType="node"/>
      <dgm:constr type="w" for="ch" forName="space" refType="w" refFor="ch" refPtType="node" fact="-0.2"/>
      <dgm:constr type="primFontSz" for="ch" ptType="node" op="equ" val="65"/>
    </dgm:constrLst>
    <dgm:ruleLst/>
    <dgm:forEach name="Name4" axis="ch" ptType="node">
      <dgm:layoutNode name="Name5" styleLbl="vennNode1">
        <dgm:varLst>
          <dgm:bulletEnabled val="1"/>
        </dgm:varLst>
        <dgm:alg type="tx">
          <dgm:param type="txAnchorVertCh" val="mid"/>
          <dgm:param type="txAnchorHorzCh" val="ctr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tMarg" refType="primFontSz" fact="0.1"/>
          <dgm:constr type="bMarg" refType="primFontSz" fact="0.1"/>
          <dgm:constr type="lMarg" refType="w" fact="0.156"/>
          <dgm:constr type="rMarg" refType="w" fact="0.156"/>
        </dgm:constrLst>
        <dgm:ruleLst>
          <dgm:rule type="primFontSz" val="5" fact="NaN" max="NaN"/>
        </dgm:ruleLst>
      </dgm:layoutNode>
      <dgm:forEach name="Name6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7#1">
  <dgm:title val=""/>
  <dgm:desc val=""/>
  <dgm:catLst>
    <dgm:cat type="3D" pri="11700"/>
  </dgm:catLst>
  <dgm:scene3d>
    <a:camera prst="perspectiveLeft" zoom="91000"/>
    <a:lightRig rig="threePt" dir="t">
      <a:rot lat="0" lon="0" rev="20640000"/>
    </a:lightRig>
  </dgm:scene3d>
  <dgm:styleLbl name="node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threePt" dir="t"/>
    </dgm:scene3d>
    <dgm:sp3d extrusionH="50600" prstMaterial="clear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 z="572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118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 z="106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 z="-2118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0000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50600">
      <a:bevelT w="101600" h="80600"/>
      <a:bevelB w="80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50600">
      <a:bevelT w="101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61800" extrusionH="10600" contourW="3000">
      <a:bevelT w="48600" h="8600" prst="softRound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61800" extrusionH="10600" contourW="3000">
      <a:bevelT w="48600" h="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618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50600">
      <a:bevelT w="80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200" extrusionH="600" contourW="3000" prstMaterial="plastic">
      <a:bevelT w="80600" h="18600" prst="relaxedInset"/>
      <a:bevelB w="80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A666E0-C270-4F2D-A5DC-96BE795B540E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19044B-B5AF-477C-950C-4ED5126343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606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84AE20-9EAE-4BB7-93AC-7EFA05BCA1CF}" type="slidenum">
              <a:rPr lang="en-IN" smtClean="0"/>
              <a:t>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74734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162C7A-CC9D-4035-A213-68F795EB7A2A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7703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2BE77-A6B4-BF9A-F59F-6A1C17E6D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F4D497-63DE-C270-40A4-331A37D0B0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809C3A-1739-D230-186B-84454F605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5F904-3F1F-4281-A9E1-C2FB746B8BF7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63778-C058-1235-D3A3-7BCFF3CD0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A1708-DD63-B8A6-CDE5-A057B2CF8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699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A0280-1254-E679-102E-D8CC13C8C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84D78-2E62-1C74-D557-5115FDC29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02B77-F303-2F09-80CB-35B74D2F5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D6EA9-74F4-419E-9686-C1380811218E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3359BF-B012-085F-389A-331E721BC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0460-9CE8-D43D-79E7-A7A9144A3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162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87D46-3DEF-526E-5F46-4ADACBEC0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A517A-D5B3-3AF2-38BE-1D8998813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602125-0289-3272-156D-A3C31E848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6D309-B4D5-4527-B36F-A10579509D53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9971A6-CC5A-CC09-A1F2-E284284E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898D5-FC90-9DA1-FE2F-D07DEDDAD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95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89433-0D52-95EF-D78E-4FC912D4F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A2DAE-6EF3-6910-5373-1A5DF4090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1AE70-38B9-B797-DE71-57CAE4C82D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5E50E-F402-07A4-460F-3431CA99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5E381-5B31-4AF8-B2D5-825A2871D21A}" type="datetime1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4D7A32-7B4B-0167-CBD3-4FB4F42F7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B928D-DF00-B9C5-1A36-1E52C14CB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198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CFE06-EEED-5CC3-A38A-576DD2C8A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B0BA8C-9EDE-BB49-BD35-49BAFCB8D3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1DDD39-7D2C-4493-F56F-81F6BC3F98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14469B-6213-D34D-07A9-FCDC82AC0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6440F3-3F2D-85CC-D2E2-6D0D54B8A2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346DE1-9818-60AF-EAF8-FFED39BA5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8F223-DE04-43B3-A1CA-82C024222846}" type="datetime1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5E9E00-6460-F360-EDFD-B03FBA2C6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BFFDD7-5BFE-EA3B-6250-A381A5695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251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CE0FC-511C-2C2C-E510-CDDF2634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796671-3C71-777F-3A4D-A89D7E5D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C939F-6452-40B3-8B30-A5C8AB6A0DFC}" type="datetime1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024A6A-95A8-2753-339B-FC09D4CAE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9E07AF-B1A0-E180-D5AC-3F2F0031C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466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8527A8-9BA5-6E6B-9B96-E6F6FADC4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43805D-913B-4F6D-902C-E5136FBF0E0C}" type="datetime1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AB8C98-6C07-7CF9-228C-EF7E65147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47070-DD15-038E-31F6-EF9EAD920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321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28049-15BD-A06B-510D-51342C765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7F51D-EFF8-F91B-8F7D-613493BF8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3686E-4EC3-3B25-F2B1-DEF00AA476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24C9A3-A390-80A1-50AD-21AB6B252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5B214-4124-49D8-A24E-DBA27A6445C3}" type="datetime1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FB16C-3A67-2F8D-2205-B1FF3BE2C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137A69-0E62-6668-A184-42A6DBF6B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48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AFB01-3CD4-CFD9-5A71-411262FAA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DCEFF8-AB3F-42A6-ADAF-1080336CCB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914F7C-5D5A-7C5D-50F2-B5067E1E61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E767C3-2493-217A-8E1D-03F6BBB4A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956CC-F7C8-47FB-89A1-FBAE32B2A8EB}" type="datetime1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8FEBF7-64BD-7F85-1240-C02E3705B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64DB1-56E3-B1C9-BED9-904A25C29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973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BCD61-B1C9-A34D-6022-ADB9D4B22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24F7E8-10E7-E6C8-474D-2A06ED5015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E7D405-5D32-C40F-1430-5F5A97DD4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F10B40-B78B-4C4B-BDCF-3CB98651AC41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9955A-6D2E-8ABB-AF09-EC9590F01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9E1B21-A5D1-C625-FE7B-A0232576A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886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699036-2042-AC93-5117-4059611F3C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2DD23D-712F-710C-F8D8-B4B2B3E059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95516-E45F-6DA1-08EA-04E781DF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C7294-1103-4E07-87C3-AC60860F3AE3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71DB9-D5C7-9EFA-0532-06B0BAAF4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735D92-5A89-BE34-CC33-93F56B3E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49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91251-3688-4348-9E3A-30E567D55C4D}" type="datetime1">
              <a:rPr lang="en-US" smtClean="0"/>
              <a:t>9/17/2026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8602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DBFDF-CDE2-40CB-8FA4-3CBB1CF54A9D}" type="datetime1">
              <a:rPr lang="en-US" smtClean="0"/>
              <a:t>9/17/2026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82983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77594-F345-470B-9851-AAB51F8A07D1}" type="datetime1">
              <a:rPr lang="en-US" smtClean="0"/>
              <a:t>9/17/2026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9923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14D82-1E80-4D9B-9F48-1603FF32D29B}" type="datetime1">
              <a:rPr lang="en-US" smtClean="0"/>
              <a:t>9/17/2026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9083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91D6D-4517-4318-8E63-BA647FC73676}" type="datetime1">
              <a:rPr lang="en-US" smtClean="0"/>
              <a:t>9/17/2026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84857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8BE11-45C9-4A33-91D6-F834346F8230}" type="datetime1">
              <a:rPr lang="en-US" smtClean="0"/>
              <a:t>9/17/2026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38849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F475-35D2-4DB4-B393-F0CB7E443F34}" type="datetime1">
              <a:rPr lang="en-US" smtClean="0"/>
              <a:t>9/17/2026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8867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F7173-3C06-4909-B7DB-53FA6C1C449E}" type="datetime1">
              <a:rPr lang="en-US" smtClean="0"/>
              <a:t>9/17/2026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749178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6B61D-E795-4B3F-91F2-8D80F4704BCD}" type="datetime1">
              <a:rPr lang="en-US" smtClean="0"/>
              <a:t>9/17/2026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633191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192F9-85A8-474E-9101-6E509395F1D7}" type="datetime1">
              <a:rPr lang="en-US" smtClean="0"/>
              <a:t>9/17/2026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75840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AA09B4-E520-4CE3-B3CD-968466114F87}" type="datetime1">
              <a:rPr lang="en-US" smtClean="0"/>
              <a:t>9/17/2026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4595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711898-360B-AD49-DD62-FA3B7B662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2BE89-A274-4461-2B81-505874463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B2A70-C1DC-D783-67E1-97822E79A5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1BE44B-A080-444E-B2F8-66835D348D22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5D01A-229C-E067-7B4E-BC254D6544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741767-E51C-1DAB-E3C8-F047E87A83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637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AF9358-0389-4EC9-8C09-403CD6E20950}" type="datetime1">
              <a:rPr lang="en-US" smtClean="0"/>
              <a:t>9/17/2026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376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hyperlink" Target="https://svgsilh.com/03a9f4/image/98809.html" TargetMode="External"/><Relationship Id="rId7" Type="http://schemas.openxmlformats.org/officeDocument/2006/relationships/diagramColors" Target="../diagrams/colors1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8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Relationship Id="rId9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D22BC4D-4857-7D81-7819-37B7BB4264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297677"/>
              </p:ext>
            </p:extLst>
          </p:nvPr>
        </p:nvGraphicFramePr>
        <p:xfrm>
          <a:off x="8193271" y="4898509"/>
          <a:ext cx="3702050" cy="1493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02050">
                  <a:extLst>
                    <a:ext uri="{9D8B030D-6E8A-4147-A177-3AD203B41FA5}">
                      <a16:colId xmlns:a16="http://schemas.microsoft.com/office/drawing/2014/main" val="40058472"/>
                    </a:ext>
                  </a:extLst>
                </a:gridCol>
              </a:tblGrid>
              <a:tr h="124213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Team Members</a:t>
                      </a:r>
                    </a:p>
                    <a:p>
                      <a:pPr marL="0" algn="l" defTabSz="914400" rtl="0" eaLnBrk="1" latinLnBrk="0" hangingPunct="1"/>
                      <a:r>
                        <a:rPr lang="en-IN" sz="16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K. Srimaan-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2420030418</a:t>
                      </a:r>
                      <a:br>
                        <a:rPr lang="en-IN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</a:br>
                      <a:r>
                        <a:rPr lang="en-IN" sz="16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K. Suresh  -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2420030229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M. Jai Tej  -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2420030393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sz="1400" b="1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/>
                      <a:endParaRPr lang="en-IN" sz="1400" b="1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08782725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B5A8CA37-C090-A9D8-75D0-A7A7D5DEBE24}"/>
              </a:ext>
            </a:extLst>
          </p:cNvPr>
          <p:cNvGrpSpPr/>
          <p:nvPr/>
        </p:nvGrpSpPr>
        <p:grpSpPr>
          <a:xfrm>
            <a:off x="8038280" y="4765558"/>
            <a:ext cx="230240" cy="232995"/>
            <a:chOff x="1567861" y="1613059"/>
            <a:chExt cx="230240" cy="232995"/>
          </a:xfrm>
          <a:solidFill>
            <a:srgbClr val="FF66FF"/>
          </a:solidFill>
        </p:grpSpPr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E48399A6-AAB5-B502-9670-34E0FCDF5541}"/>
                </a:ext>
              </a:extLst>
            </p:cNvPr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highlight>
                  <a:srgbClr val="FFFF00"/>
                </a:highlight>
              </a:endParaRPr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67E59050-351C-0873-0298-AB77EA522C22}"/>
                </a:ext>
              </a:extLst>
            </p:cNvPr>
            <p:cNvSpPr/>
            <p:nvPr/>
          </p:nvSpPr>
          <p:spPr>
            <a:xfrm rot="11852143">
              <a:off x="1683856" y="1639371"/>
              <a:ext cx="114245" cy="153379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9091FADF-77DB-CB1D-CD72-56C53CF76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2719861"/>
              </p:ext>
            </p:extLst>
          </p:nvPr>
        </p:nvGraphicFramePr>
        <p:xfrm>
          <a:off x="-795813" y="4774125"/>
          <a:ext cx="5902325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3565">
                  <a:extLst>
                    <a:ext uri="{9D8B030D-6E8A-4147-A177-3AD203B41FA5}">
                      <a16:colId xmlns:a16="http://schemas.microsoft.com/office/drawing/2014/main" val="40058472"/>
                    </a:ext>
                  </a:extLst>
                </a:gridCol>
                <a:gridCol w="4528760">
                  <a:extLst>
                    <a:ext uri="{9D8B030D-6E8A-4147-A177-3AD203B41FA5}">
                      <a16:colId xmlns:a16="http://schemas.microsoft.com/office/drawing/2014/main" val="1330242319"/>
                    </a:ext>
                  </a:extLst>
                </a:gridCol>
              </a:tblGrid>
              <a:tr h="1332118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IN" sz="500" b="1" dirty="0">
                        <a:solidFill>
                          <a:srgbClr val="C0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Under the Guidance of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500" b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R. Chandra Shekhar</a:t>
                      </a:r>
                      <a:br>
                        <a:rPr lang="en-US" sz="1500" b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</a:br>
                      <a:r>
                        <a:rPr lang="en-US" sz="1500" b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Assistant Professor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b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Department of CSE,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KLH CSE Bowrampet Campus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08782725"/>
                  </a:ext>
                </a:extLst>
              </a:tr>
            </a:tbl>
          </a:graphicData>
        </a:graphic>
      </p:graphicFrame>
      <p:grpSp>
        <p:nvGrpSpPr>
          <p:cNvPr id="31" name="Group 30">
            <a:extLst>
              <a:ext uri="{FF2B5EF4-FFF2-40B4-BE49-F238E27FC236}">
                <a16:creationId xmlns:a16="http://schemas.microsoft.com/office/drawing/2014/main" id="{8A67E7A6-1F33-FBD3-09B8-F35F17C8F890}"/>
              </a:ext>
            </a:extLst>
          </p:cNvPr>
          <p:cNvGrpSpPr/>
          <p:nvPr/>
        </p:nvGrpSpPr>
        <p:grpSpPr>
          <a:xfrm>
            <a:off x="442519" y="4562547"/>
            <a:ext cx="230240" cy="232995"/>
            <a:chOff x="1567861" y="1613059"/>
            <a:chExt cx="230240" cy="232995"/>
          </a:xfrm>
          <a:solidFill>
            <a:srgbClr val="00B0F0"/>
          </a:solidFill>
        </p:grpSpPr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FE269535-B3A3-75F2-310C-D43D8AC3F905}"/>
                </a:ext>
              </a:extLst>
            </p:cNvPr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highlight>
                  <a:srgbClr val="FFFF00"/>
                </a:highlight>
              </a:endParaRPr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FA8E9237-F9D3-FB94-D6EB-94D77AEFD506}"/>
                </a:ext>
              </a:extLst>
            </p:cNvPr>
            <p:cNvSpPr/>
            <p:nvPr/>
          </p:nvSpPr>
          <p:spPr>
            <a:xfrm rot="11852143">
              <a:off x="1683856" y="1639371"/>
              <a:ext cx="114245" cy="153379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sp>
        <p:nvSpPr>
          <p:cNvPr id="34" name="Date Placeholder 33">
            <a:extLst>
              <a:ext uri="{FF2B5EF4-FFF2-40B4-BE49-F238E27FC236}">
                <a16:creationId xmlns:a16="http://schemas.microsoft.com/office/drawing/2014/main" id="{C1554CCE-4DF8-89E6-E0F6-3C2A1439C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A51D8D-77C0-43B9-9B5F-E46EDA00679A}" type="datetime1">
              <a:rPr lang="en-US" b="1" smtClean="0"/>
              <a:t>9/17/2026</a:t>
            </a:fld>
            <a:endParaRPr lang="en-IN" b="1" dirty="0"/>
          </a:p>
        </p:txBody>
      </p:sp>
      <p:sp>
        <p:nvSpPr>
          <p:cNvPr id="35" name="Footer Placeholder 34">
            <a:extLst>
              <a:ext uri="{FF2B5EF4-FFF2-40B4-BE49-F238E27FC236}">
                <a16:creationId xmlns:a16="http://schemas.microsoft.com/office/drawing/2014/main" id="{8FB49AA0-2464-6225-6B6C-063F9A6EC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b="1" dirty="0"/>
              <a:t>CNAD Project Review-1</a:t>
            </a:r>
          </a:p>
        </p:txBody>
      </p:sp>
      <p:sp>
        <p:nvSpPr>
          <p:cNvPr id="36" name="Slide Number Placeholder 35">
            <a:extLst>
              <a:ext uri="{FF2B5EF4-FFF2-40B4-BE49-F238E27FC236}">
                <a16:creationId xmlns:a16="http://schemas.microsoft.com/office/drawing/2014/main" id="{28F834F9-83AA-E3F9-773A-4B7A83B3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1</a:t>
            </a:fld>
            <a:endParaRPr lang="en-IN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E5F681-D3B5-BC4B-8AA4-5688DCEEFB44}"/>
              </a:ext>
            </a:extLst>
          </p:cNvPr>
          <p:cNvSpPr/>
          <p:nvPr/>
        </p:nvSpPr>
        <p:spPr>
          <a:xfrm>
            <a:off x="638174" y="766613"/>
            <a:ext cx="10915650" cy="98564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782FAE-AFAF-27B2-2591-CFAF7695B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D4CF64F-3FB6-0CE4-B778-63C5D5A1D343}"/>
              </a:ext>
            </a:extLst>
          </p:cNvPr>
          <p:cNvSpPr txBox="1"/>
          <p:nvPr/>
        </p:nvSpPr>
        <p:spPr>
          <a:xfrm>
            <a:off x="660516" y="975485"/>
            <a:ext cx="107156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I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SLA-Aware Stable Adaptive ML Model Selection Using MAPE-K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5BC1A0-FDE4-1557-375E-6E0BD69BC77B}"/>
              </a:ext>
            </a:extLst>
          </p:cNvPr>
          <p:cNvSpPr txBox="1"/>
          <p:nvPr/>
        </p:nvSpPr>
        <p:spPr>
          <a:xfrm>
            <a:off x="638175" y="2199745"/>
            <a:ext cx="107156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ASE Project Review-2</a:t>
            </a:r>
          </a:p>
        </p:txBody>
      </p:sp>
    </p:spTree>
    <p:extLst>
      <p:ext uri="{BB962C8B-B14F-4D97-AF65-F5344CB8AC3E}">
        <p14:creationId xmlns:p14="http://schemas.microsoft.com/office/powerpoint/2010/main" val="2247602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FAE64B-DFA9-4528-D74E-DAEA88C00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4C1F5F2-ECD8-4C6D-ADBC-EC676B29AED6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9/17/2026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222DE7-17C6-1B7E-71C0-2347B0AA2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CNAD Project Review-1</a:t>
            </a:r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20A00F-144B-157D-A12F-7CF90703C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3A418F-4DEE-4BB1-940B-1145D135750E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97C6D7-F4DC-4908-B610-D10EE43A9B41}"/>
              </a:ext>
            </a:extLst>
          </p:cNvPr>
          <p:cNvSpPr txBox="1"/>
          <p:nvPr/>
        </p:nvSpPr>
        <p:spPr>
          <a:xfrm>
            <a:off x="3020906" y="173546"/>
            <a:ext cx="5854242" cy="646331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600" b="1" i="0" u="none" strike="noStrike" kern="1200" cap="none" spc="0" normalizeH="0" baseline="0" noProof="0" dirty="0">
                <a:ln w="0"/>
                <a:solidFill>
                  <a:srgbClr val="4472C4"/>
                </a:solidFill>
                <a:effectLst/>
                <a:uLnTx/>
                <a:uFillTx/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</a:rPr>
              <a:t>Outline of Project Work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25CDE63-8DDC-4AC4-7713-9D89D6D0F4B1}"/>
              </a:ext>
            </a:extLst>
          </p:cNvPr>
          <p:cNvGrpSpPr/>
          <p:nvPr/>
        </p:nvGrpSpPr>
        <p:grpSpPr>
          <a:xfrm>
            <a:off x="2001361" y="1377996"/>
            <a:ext cx="6784432" cy="4418651"/>
            <a:chOff x="1929643" y="1656655"/>
            <a:chExt cx="6784432" cy="441865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0A4CA55-824E-91B2-D5F9-032778D4B8B3}"/>
                </a:ext>
              </a:extLst>
            </p:cNvPr>
            <p:cNvSpPr txBox="1"/>
            <p:nvPr/>
          </p:nvSpPr>
          <p:spPr>
            <a:xfrm>
              <a:off x="2645698" y="3289875"/>
              <a:ext cx="4267376" cy="960328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Proposed System</a:t>
              </a:r>
            </a:p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E7E17B2-5AF8-C463-91C3-5B87FC773369}"/>
                </a:ext>
              </a:extLst>
            </p:cNvPr>
            <p:cNvSpPr txBox="1"/>
            <p:nvPr/>
          </p:nvSpPr>
          <p:spPr>
            <a:xfrm>
              <a:off x="2949188" y="3880017"/>
              <a:ext cx="4374693" cy="73507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lang="en-US" b="1" dirty="0">
                  <a:solidFill>
                    <a:prstClr val="white"/>
                  </a:solidFill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Technology Used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D160BA9-A291-1BA5-C03E-7218C2169C28}"/>
                </a:ext>
              </a:extLst>
            </p:cNvPr>
            <p:cNvSpPr txBox="1"/>
            <p:nvPr/>
          </p:nvSpPr>
          <p:spPr>
            <a:xfrm>
              <a:off x="3139925" y="4332926"/>
              <a:ext cx="4529560" cy="93769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lang="en-US" b="1" dirty="0">
                  <a:solidFill>
                    <a:prstClr val="white"/>
                  </a:solidFill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Workflow / Architecture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C792DA3-F484-948A-E346-F158FE24CE3F}"/>
                </a:ext>
              </a:extLst>
            </p:cNvPr>
            <p:cNvSpPr txBox="1"/>
            <p:nvPr/>
          </p:nvSpPr>
          <p:spPr>
            <a:xfrm>
              <a:off x="3426151" y="4880317"/>
              <a:ext cx="4774676" cy="91973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lang="en-US" sz="2000" b="1" dirty="0">
                  <a:solidFill>
                    <a:prstClr val="white"/>
                  </a:solidFill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Modules</a:t>
              </a:r>
              <a:b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</a:b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57E2443-43F4-3FA3-6C83-796D6B456220}"/>
                </a:ext>
              </a:extLst>
            </p:cNvPr>
            <p:cNvSpPr txBox="1"/>
            <p:nvPr/>
          </p:nvSpPr>
          <p:spPr>
            <a:xfrm>
              <a:off x="3822549" y="5483028"/>
              <a:ext cx="4891526" cy="592278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lang="en-US" b="1" dirty="0">
                  <a:solidFill>
                    <a:prstClr val="white"/>
                  </a:solidFill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Conclusion and Future Scope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FEE87FCF-6A51-9005-163C-5E3B5C1257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8229530" y="5002476"/>
              <a:ext cx="455841" cy="536286"/>
            </a:xfrm>
            <a:prstGeom prst="rect">
              <a:avLst/>
            </a:prstGeom>
          </p:spPr>
        </p:pic>
        <p:sp>
          <p:nvSpPr>
            <p:cNvPr id="28" name="Content Placeholder 11">
              <a:extLst>
                <a:ext uri="{FF2B5EF4-FFF2-40B4-BE49-F238E27FC236}">
                  <a16:creationId xmlns:a16="http://schemas.microsoft.com/office/drawing/2014/main" id="{F1211E34-5F1E-9B5C-4C59-2549F412DCD1}"/>
                </a:ext>
              </a:extLst>
            </p:cNvPr>
            <p:cNvSpPr txBox="1">
              <a:spLocks/>
            </p:cNvSpPr>
            <p:nvPr/>
          </p:nvSpPr>
          <p:spPr>
            <a:xfrm>
              <a:off x="1929643" y="1656655"/>
              <a:ext cx="3548330" cy="74899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 cap="flat" cmpd="sng" algn="ctr">
              <a:solidFill>
                <a:schemeClr val="accent4"/>
              </a:solidFill>
              <a:prstDash val="solid"/>
              <a:miter lim="800000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lang="en-US" sz="2000" b="1" dirty="0">
                  <a:solidFill>
                    <a:prstClr val="white"/>
                  </a:solidFill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Problem Statement</a:t>
              </a: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I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  <p:sp>
          <p:nvSpPr>
            <p:cNvPr id="31" name="Content Placeholder 11">
              <a:extLst>
                <a:ext uri="{FF2B5EF4-FFF2-40B4-BE49-F238E27FC236}">
                  <a16:creationId xmlns:a16="http://schemas.microsoft.com/office/drawing/2014/main" id="{4D713724-2EA7-CA04-47B9-F63B3DAC496D}"/>
                </a:ext>
              </a:extLst>
            </p:cNvPr>
            <p:cNvSpPr txBox="1">
              <a:spLocks/>
            </p:cNvSpPr>
            <p:nvPr/>
          </p:nvSpPr>
          <p:spPr>
            <a:xfrm>
              <a:off x="2209801" y="2217836"/>
              <a:ext cx="3886200" cy="66622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 cap="flat" cmpd="sng" algn="ctr">
              <a:solidFill>
                <a:schemeClr val="accent4"/>
              </a:solidFill>
              <a:prstDash val="solid"/>
              <a:miter lim="800000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lang="en-US" sz="2000" b="1" dirty="0">
                  <a:solidFill>
                    <a:prstClr val="white"/>
                  </a:solidFill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Objectives</a:t>
              </a: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I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  <p:pic>
          <p:nvPicPr>
            <p:cNvPr id="36" name="Graphic 35">
              <a:extLst>
                <a:ext uri="{FF2B5EF4-FFF2-40B4-BE49-F238E27FC236}">
                  <a16:creationId xmlns:a16="http://schemas.microsoft.com/office/drawing/2014/main" id="{55B3B570-3194-94D5-869B-2F3E3E133B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7683523" y="4358877"/>
              <a:ext cx="455841" cy="536286"/>
            </a:xfrm>
            <a:prstGeom prst="rect">
              <a:avLst/>
            </a:prstGeom>
          </p:spPr>
        </p:pic>
        <p:pic>
          <p:nvPicPr>
            <p:cNvPr id="37" name="Graphic 36">
              <a:extLst>
                <a:ext uri="{FF2B5EF4-FFF2-40B4-BE49-F238E27FC236}">
                  <a16:creationId xmlns:a16="http://schemas.microsoft.com/office/drawing/2014/main" id="{A01B3509-5090-7764-12FF-0CDB13E360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7229942" y="3813495"/>
              <a:ext cx="455841" cy="536286"/>
            </a:xfrm>
            <a:prstGeom prst="rect">
              <a:avLst/>
            </a:prstGeom>
          </p:spPr>
        </p:pic>
        <p:pic>
          <p:nvPicPr>
            <p:cNvPr id="38" name="Graphic 37">
              <a:extLst>
                <a:ext uri="{FF2B5EF4-FFF2-40B4-BE49-F238E27FC236}">
                  <a16:creationId xmlns:a16="http://schemas.microsoft.com/office/drawing/2014/main" id="{4A5FDD7E-5A46-92A5-C963-19E091BBF7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6836570" y="3357099"/>
              <a:ext cx="455841" cy="536286"/>
            </a:xfrm>
            <a:prstGeom prst="rect">
              <a:avLst/>
            </a:prstGeom>
          </p:spPr>
        </p:pic>
        <p:pic>
          <p:nvPicPr>
            <p:cNvPr id="39" name="Graphic 38">
              <a:extLst>
                <a:ext uri="{FF2B5EF4-FFF2-40B4-BE49-F238E27FC236}">
                  <a16:creationId xmlns:a16="http://schemas.microsoft.com/office/drawing/2014/main" id="{C50C5009-E2F0-E358-4C45-CAEADDEC93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6443196" y="2766955"/>
              <a:ext cx="455841" cy="536286"/>
            </a:xfrm>
            <a:prstGeom prst="rect">
              <a:avLst/>
            </a:prstGeom>
          </p:spPr>
        </p:pic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F1D91F2F-C2FB-3146-467B-21A20C8410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6040392" y="2252522"/>
              <a:ext cx="455841" cy="536286"/>
            </a:xfrm>
            <a:prstGeom prst="rect">
              <a:avLst/>
            </a:prstGeom>
          </p:spPr>
        </p:pic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7B0FD951-BFA0-1228-E572-2BFE866AEE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5626122" y="1721293"/>
              <a:ext cx="455841" cy="536286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76F380C-3238-E430-3C22-3C23884CE532}"/>
                </a:ext>
              </a:extLst>
            </p:cNvPr>
            <p:cNvSpPr txBox="1"/>
            <p:nvPr/>
          </p:nvSpPr>
          <p:spPr>
            <a:xfrm>
              <a:off x="2490411" y="2773626"/>
              <a:ext cx="4004225" cy="50687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lang="en-US" sz="2040" b="1" dirty="0">
                  <a:solidFill>
                    <a:prstClr val="white"/>
                  </a:solidFill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Existing System</a:t>
              </a:r>
              <a:endParaRPr kumimoji="0" lang="en-US" sz="204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</p:grpSp>
      <p:graphicFrame>
        <p:nvGraphicFramePr>
          <p:cNvPr id="26" name="Diagram 25">
            <a:extLst>
              <a:ext uri="{FF2B5EF4-FFF2-40B4-BE49-F238E27FC236}">
                <a16:creationId xmlns:a16="http://schemas.microsoft.com/office/drawing/2014/main" id="{C044B753-17EC-8A45-927F-C44CC40ED5BA}"/>
              </a:ext>
            </a:extLst>
          </p:cNvPr>
          <p:cNvGraphicFramePr/>
          <p:nvPr/>
        </p:nvGraphicFramePr>
        <p:xfrm>
          <a:off x="41510" y="115414"/>
          <a:ext cx="1474694" cy="9423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0B4D1914-919F-D842-1FC2-1BBFC0E95C2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49380" y="0"/>
            <a:ext cx="1901110" cy="62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69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C8F81-5402-FBBE-D32A-834F3C603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A614DC-364B-1BD9-B452-BC2E55FD9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22E8B8-54AE-F861-D576-B62C19A55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F0E259-4615-46D4-A3BD-7CF5E55937D6}" type="datetime1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3DF040-570B-E40C-28DD-48ACF4776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450DC-5C76-3221-3705-A7713237D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3</a:t>
            </a:fld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CB58DBC-97DD-CAE2-6032-D8BF2561F46C}"/>
              </a:ext>
            </a:extLst>
          </p:cNvPr>
          <p:cNvSpPr/>
          <p:nvPr/>
        </p:nvSpPr>
        <p:spPr>
          <a:xfrm>
            <a:off x="3834920" y="136525"/>
            <a:ext cx="4105120" cy="708443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76506A-DBAB-8B3E-C48B-9AF465FF8B71}"/>
              </a:ext>
            </a:extLst>
          </p:cNvPr>
          <p:cNvSpPr txBox="1"/>
          <p:nvPr/>
        </p:nvSpPr>
        <p:spPr>
          <a:xfrm>
            <a:off x="1179872" y="2100968"/>
            <a:ext cx="961594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2000" dirty="0"/>
              <a:t>Traditional ML applications usually deploy a </a:t>
            </a:r>
            <a:r>
              <a:rPr lang="en-IN" sz="2000" b="1" dirty="0"/>
              <a:t>single model</a:t>
            </a:r>
            <a:r>
              <a:rPr lang="en-IN" sz="2000" dirty="0"/>
              <a:t>, often selected based mainly on accuracy. However, different models have different </a:t>
            </a:r>
            <a:r>
              <a:rPr lang="en-IN" sz="2000" b="1" dirty="0"/>
              <a:t>accuracy, latency, CPU, and memory requirements</a:t>
            </a:r>
            <a:r>
              <a:rPr lang="en-IN" sz="2000" dirty="0"/>
              <a:t>.</a:t>
            </a:r>
          </a:p>
          <a:p>
            <a:pPr algn="just"/>
            <a:r>
              <a:rPr lang="en-IN" sz="2000" dirty="0"/>
              <a:t>When workload or system conditions change, the initially selected model may no longer satisfy the application's performance requirements.</a:t>
            </a:r>
          </a:p>
          <a:p>
            <a:pPr algn="just"/>
            <a:r>
              <a:rPr lang="en-IN" sz="2000" dirty="0"/>
              <a:t>A system is therefore needed that can </a:t>
            </a:r>
            <a:r>
              <a:rPr lang="en-IN" sz="2000" b="1" dirty="0"/>
              <a:t>automatically select and switch between ML models according to runtime conditions</a:t>
            </a:r>
            <a:r>
              <a:rPr lang="en-IN" sz="2000" dirty="0"/>
              <a:t>, while avoiding unnecessary and frequent switching.</a:t>
            </a:r>
          </a:p>
        </p:txBody>
      </p:sp>
    </p:spTree>
    <p:extLst>
      <p:ext uri="{BB962C8B-B14F-4D97-AF65-F5344CB8AC3E}">
        <p14:creationId xmlns:p14="http://schemas.microsoft.com/office/powerpoint/2010/main" val="1843937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4AF34-8CFC-8161-A3CD-DED259C92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2C6E66-DFCA-CBBA-3972-F62C5800A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1EEFAC-0ECA-A18F-A4B4-033D37111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399FE-9025-4738-A866-75F92FF5600E}" type="datetime1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4FD4BC-7EB9-607E-38E4-8C64E6E11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C535C-1312-10F3-FBDA-B7001433D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4</a:t>
            </a:fld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ADE4BBA-6735-AAC4-BA57-E76FE3B3CF7A}"/>
              </a:ext>
            </a:extLst>
          </p:cNvPr>
          <p:cNvSpPr/>
          <p:nvPr/>
        </p:nvSpPr>
        <p:spPr>
          <a:xfrm>
            <a:off x="3845080" y="122680"/>
            <a:ext cx="4105120" cy="708443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15A8EF-C291-E978-659D-739BE3013444}"/>
              </a:ext>
            </a:extLst>
          </p:cNvPr>
          <p:cNvSpPr txBox="1"/>
          <p:nvPr/>
        </p:nvSpPr>
        <p:spPr>
          <a:xfrm>
            <a:off x="1236406" y="1705451"/>
            <a:ext cx="10117394" cy="3447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Main</a:t>
            </a:r>
            <a:r>
              <a:rPr lang="en-IN" b="1" dirty="0"/>
              <a:t> </a:t>
            </a:r>
            <a:r>
              <a:rPr lang="en-IN" sz="2000" b="1" dirty="0"/>
              <a:t>objectives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Develop multiple ML models</a:t>
            </a:r>
            <a:r>
              <a:rPr lang="en-IN" sz="2000" dirty="0"/>
              <a:t> for the same prediction task.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Monitor </a:t>
            </a:r>
            <a:r>
              <a:rPr lang="en-IN" sz="2000" b="1" dirty="0"/>
              <a:t>accuracy, latency, CPU, memory, and workload</a:t>
            </a:r>
            <a:r>
              <a:rPr lang="en-IN" sz="2000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Define an </a:t>
            </a:r>
            <a:r>
              <a:rPr lang="en-IN" sz="2000" b="1" dirty="0"/>
              <a:t>SLA</a:t>
            </a:r>
            <a:r>
              <a:rPr lang="en-IN" sz="2000" dirty="0"/>
              <a:t> for the application.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Dynamically select the model that best satisfies the SLA.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Use </a:t>
            </a:r>
            <a:r>
              <a:rPr lang="en-IN" sz="2000" b="1" dirty="0"/>
              <a:t>MAPE-K</a:t>
            </a:r>
            <a:r>
              <a:rPr lang="en-IN" sz="2000" dirty="0"/>
              <a:t> to continuously monitor and adapt the system.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Prevent unnecessary model switching using a </a:t>
            </a:r>
            <a:r>
              <a:rPr lang="en-IN" sz="2000" b="1" dirty="0"/>
              <a:t>stability mechanism</a:t>
            </a:r>
            <a:r>
              <a:rPr lang="en-IN" sz="2000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Compare the adaptive system against a </a:t>
            </a:r>
            <a:r>
              <a:rPr lang="en-IN" sz="2000" b="1" dirty="0"/>
              <a:t>fixed-model baseline</a:t>
            </a:r>
            <a:r>
              <a:rPr lang="en-IN" sz="2000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Measure improvements in </a:t>
            </a:r>
            <a:r>
              <a:rPr lang="en-IN" sz="2000" b="1" dirty="0"/>
              <a:t>latency, resource utilization, SLA violations, and prediction quality</a:t>
            </a:r>
            <a:r>
              <a:rPr lang="en-IN" sz="2000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7782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A0FDE360-66C4-26CA-5DB9-8E99C2685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E2E2B-EEBE-417C-831B-9A36F38228DC}" type="datetime1">
              <a:rPr lang="en-US" smtClean="0"/>
              <a:t>9/17/2026</a:t>
            </a:fld>
            <a:endParaRPr lang="en-IN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F095753-622E-2BA7-9495-60F9B6E57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  <a:endParaRPr lang="en-IN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9784944-5437-9E89-7017-F3DB9CA91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A418F-4DEE-4BB1-940B-1145D135750E}" type="slidenum">
              <a:rPr lang="en-IN" smtClean="0"/>
              <a:t>5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3EBAEA-8DC6-8F54-F0D6-38F9643BD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04399D-42EB-45BD-D43F-A5AE14D447C0}"/>
              </a:ext>
            </a:extLst>
          </p:cNvPr>
          <p:cNvSpPr/>
          <p:nvPr/>
        </p:nvSpPr>
        <p:spPr>
          <a:xfrm>
            <a:off x="3773960" y="28819"/>
            <a:ext cx="4105120" cy="593732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8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</a:rPr>
              <a:t>Existing System</a:t>
            </a:r>
            <a:endParaRPr lang="en-IN" sz="28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055B6A-3CD4-67D4-ECFE-9BEDE09A7D50}"/>
              </a:ext>
            </a:extLst>
          </p:cNvPr>
          <p:cNvSpPr txBox="1"/>
          <p:nvPr/>
        </p:nvSpPr>
        <p:spPr>
          <a:xfrm>
            <a:off x="1408097" y="2321004"/>
            <a:ext cx="9812593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Uses a </a:t>
            </a:r>
            <a:r>
              <a:rPr lang="en-IN" sz="2000" b="1" dirty="0"/>
              <a:t>fixed or pre-selected ML model</a:t>
            </a:r>
            <a:r>
              <a:rPr lang="en-IN" sz="20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Model selection is mainly based on </a:t>
            </a:r>
            <a:r>
              <a:rPr lang="en-IN" sz="2000" b="1" dirty="0"/>
              <a:t>offline evaluation</a:t>
            </a:r>
            <a:r>
              <a:rPr lang="en-IN" sz="20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Runtime workload and resource conditions are not continuously considered.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High-accuracy models may cause increased </a:t>
            </a:r>
            <a:r>
              <a:rPr lang="en-IN" sz="2000" b="1" dirty="0"/>
              <a:t>latency and resource usage</a:t>
            </a:r>
            <a:r>
              <a:rPr lang="en-IN" sz="20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Runtime changes can result in </a:t>
            </a:r>
            <a:r>
              <a:rPr lang="en-IN" sz="2000" b="1" dirty="0"/>
              <a:t>SLA violations</a:t>
            </a:r>
            <a:r>
              <a:rPr lang="en-IN" sz="20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No stability-aware mechanism for managing model adaptation.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9277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EF2FA-32F2-6715-843F-6ACC796D0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77B92A-0C12-D39A-8847-98719E7B6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EF7CC6-A232-6F78-D877-F4139E33B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82076-AD1E-4D44-9D37-ACCF737AE8A4}" type="datetime1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1B73B0-000A-32FB-5643-CD5676D4A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A1E0BD-2CF1-90B0-91FF-80A63764D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6</a:t>
            </a:fld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D00B50F-4223-2213-E4CD-57D228BCA0B6}"/>
              </a:ext>
            </a:extLst>
          </p:cNvPr>
          <p:cNvSpPr/>
          <p:nvPr/>
        </p:nvSpPr>
        <p:spPr>
          <a:xfrm>
            <a:off x="3352320" y="268328"/>
            <a:ext cx="5258280" cy="708443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45F4FE-02F6-17C7-8FAD-B4ED14D1C450}"/>
              </a:ext>
            </a:extLst>
          </p:cNvPr>
          <p:cNvSpPr txBox="1"/>
          <p:nvPr/>
        </p:nvSpPr>
        <p:spPr>
          <a:xfrm>
            <a:off x="1061885" y="2182999"/>
            <a:ext cx="9822425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Deploys </a:t>
            </a:r>
            <a:r>
              <a:rPr lang="en-IN" sz="2000" b="1" dirty="0"/>
              <a:t>multiple ML models</a:t>
            </a:r>
            <a:r>
              <a:rPr lang="en-IN" sz="2000" dirty="0"/>
              <a:t> with different performance characteristics.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Continuously monitors </a:t>
            </a:r>
            <a:r>
              <a:rPr lang="en-IN" sz="2000" b="1" dirty="0"/>
              <a:t>accuracy, latency, CPU, memory, and workload</a:t>
            </a:r>
            <a:r>
              <a:rPr lang="en-IN" sz="2000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Uses SLA constraints to determine whether the current model is suitable.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MAPE-K</a:t>
            </a:r>
            <a:r>
              <a:rPr lang="en-IN" sz="2000" dirty="0"/>
              <a:t> </a:t>
            </a:r>
            <a:r>
              <a:rPr lang="en-IN" sz="2000" dirty="0" err="1"/>
              <a:t>analyzes</a:t>
            </a:r>
            <a:r>
              <a:rPr lang="en-IN" sz="2000" dirty="0"/>
              <a:t> runtime conditions and plans adaptation.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Selects a model that satisfies the current SLA requirements.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Uses </a:t>
            </a:r>
            <a:r>
              <a:rPr lang="en-IN" sz="2000" b="1" dirty="0"/>
              <a:t>persistence detection, cooldown, and hysteresis</a:t>
            </a:r>
            <a:r>
              <a:rPr lang="en-IN" sz="2000" dirty="0"/>
              <a:t> to avoid unnecessary switching.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5876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C6D84-077B-7007-4B63-807557EC6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C5F926-1E4C-4031-B9E9-6A17F126A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8788A6-87D6-D1AD-CD09-882273D2C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8917A-4773-4F0C-BADF-AB7FA9859A31}" type="datetime1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64A259-1A89-35BF-04C0-AB6DECF4E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95C214-DB26-4476-F790-7E558BB67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7</a:t>
            </a:fld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6FE5EF9-EC7B-4BF5-92FE-E68EC6C8C5B2}"/>
              </a:ext>
            </a:extLst>
          </p:cNvPr>
          <p:cNvSpPr/>
          <p:nvPr/>
        </p:nvSpPr>
        <p:spPr>
          <a:xfrm>
            <a:off x="2682240" y="136525"/>
            <a:ext cx="6303999" cy="708443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Technology Used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2EC7E93-E7E0-780E-3B01-259290345B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329031"/>
              </p:ext>
            </p:extLst>
          </p:nvPr>
        </p:nvGraphicFramePr>
        <p:xfrm>
          <a:off x="928719" y="1391871"/>
          <a:ext cx="10425080" cy="43796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12540">
                  <a:extLst>
                    <a:ext uri="{9D8B030D-6E8A-4147-A177-3AD203B41FA5}">
                      <a16:colId xmlns:a16="http://schemas.microsoft.com/office/drawing/2014/main" val="816289486"/>
                    </a:ext>
                  </a:extLst>
                </a:gridCol>
                <a:gridCol w="5212540">
                  <a:extLst>
                    <a:ext uri="{9D8B030D-6E8A-4147-A177-3AD203B41FA5}">
                      <a16:colId xmlns:a16="http://schemas.microsoft.com/office/drawing/2014/main" val="357603814"/>
                    </a:ext>
                  </a:extLst>
                </a:gridCol>
              </a:tblGrid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Technology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Purpose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120847944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Python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ML model development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112048505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Scikit-learn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ML model implementation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553487519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XGBoost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High-accuracy ML model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594829294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FastAPI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Prediction REST API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521559970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React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Monitoring dashboard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793791243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PostgreSQL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Store metrics and adaptation history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310691374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Prometheus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Runtime metric collection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192637883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Docker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Containerization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490597596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Git/GitHub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Version control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89863780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GitHub Actions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CI/CD automation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606679585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Trivy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/>
                        <a:t>Security scanning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227332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4135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AA2CC-2C9A-D968-2F38-FFC4A7D23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71D25F-D310-56FA-A58E-B7B79C7D8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AFF3A1-5C1B-139E-D79A-72B884780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6ED1E-D5CF-4737-9463-A65281469B97}" type="datetime1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7EC70D-1363-E80E-D957-B7196CB13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51C404-5E3A-5943-D47B-EDA9706D2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8</a:t>
            </a:fld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DA611A3-C40B-C4D0-FC5B-A6E3CFDFC96B}"/>
              </a:ext>
            </a:extLst>
          </p:cNvPr>
          <p:cNvSpPr/>
          <p:nvPr/>
        </p:nvSpPr>
        <p:spPr>
          <a:xfrm>
            <a:off x="2682240" y="136525"/>
            <a:ext cx="6303999" cy="708443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 / Architecture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62F4206-440A-F38E-FCE4-282A2D6A0D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" y="1107440"/>
            <a:ext cx="11521440" cy="5323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855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A6DCA-D91F-4C06-FD77-D28D86F5F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C8BAF-CEDF-4AEB-BAFC-BCEFB06AF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D6EA9-74F4-419E-9686-C1380811218E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E416C-DDB0-D50F-B9D0-60CD161F7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5593F-363B-C8EA-7606-B0C7A59E7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9</a:t>
            </a:fld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AB585E25-464D-1E93-80D6-16D66ADB5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1640" y="415925"/>
            <a:ext cx="6446520" cy="721995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</a:p>
        </p:txBody>
      </p:sp>
    </p:spTree>
    <p:extLst>
      <p:ext uri="{BB962C8B-B14F-4D97-AF65-F5344CB8AC3E}">
        <p14:creationId xmlns:p14="http://schemas.microsoft.com/office/powerpoint/2010/main" val="37143326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B4B2A-E425-3513-DCD4-0F077245D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5440"/>
            <a:ext cx="10515600" cy="456152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b="1" dirty="0"/>
              <a:t>Conclusion</a:t>
            </a:r>
          </a:p>
          <a:p>
            <a:pPr lvl="0"/>
            <a:r>
              <a:rPr lang="en-IN" dirty="0"/>
              <a:t>Provides </a:t>
            </a:r>
            <a:r>
              <a:rPr lang="en-IN" b="1" dirty="0"/>
              <a:t>dynamic ML model selection</a:t>
            </a:r>
            <a:r>
              <a:rPr lang="en-IN" dirty="0"/>
              <a:t> based on runtime conditions. </a:t>
            </a:r>
          </a:p>
          <a:p>
            <a:pPr lvl="0"/>
            <a:r>
              <a:rPr lang="en-IN" dirty="0"/>
              <a:t>Uses </a:t>
            </a:r>
            <a:r>
              <a:rPr lang="en-IN" b="1" dirty="0"/>
              <a:t>MAPE-K</a:t>
            </a:r>
            <a:r>
              <a:rPr lang="en-IN" dirty="0"/>
              <a:t> for continuous self-adaptation. </a:t>
            </a:r>
          </a:p>
          <a:p>
            <a:pPr lvl="0"/>
            <a:r>
              <a:rPr lang="en-IN" dirty="0"/>
              <a:t>Ensures selected models satisfy defined </a:t>
            </a:r>
            <a:r>
              <a:rPr lang="en-IN" b="1" dirty="0"/>
              <a:t>SLA requirements</a:t>
            </a:r>
            <a:r>
              <a:rPr lang="en-IN" dirty="0"/>
              <a:t>. </a:t>
            </a:r>
          </a:p>
          <a:p>
            <a:pPr lvl="0"/>
            <a:r>
              <a:rPr lang="en-IN" dirty="0"/>
              <a:t>Balances </a:t>
            </a:r>
            <a:r>
              <a:rPr lang="en-IN" b="1" dirty="0"/>
              <a:t>accuracy, latency, and resource utilization</a:t>
            </a:r>
            <a:r>
              <a:rPr lang="en-IN" dirty="0"/>
              <a:t>. </a:t>
            </a:r>
          </a:p>
          <a:p>
            <a:pPr lvl="0"/>
            <a:r>
              <a:rPr lang="en-IN" dirty="0"/>
              <a:t>Persistence detection, cooldown, and hysteresis improve system stability. </a:t>
            </a:r>
          </a:p>
          <a:p>
            <a:pPr lvl="0"/>
            <a:r>
              <a:rPr lang="en-IN" dirty="0"/>
              <a:t>Reduces the limitations of a fixed-model deployment approach. </a:t>
            </a:r>
          </a:p>
          <a:p>
            <a:pPr marL="0" indent="0">
              <a:buNone/>
            </a:pPr>
            <a:r>
              <a:rPr lang="en-IN" b="1" dirty="0"/>
              <a:t>Future Scope</a:t>
            </a:r>
          </a:p>
          <a:p>
            <a:pPr lvl="0"/>
            <a:r>
              <a:rPr lang="en-IN" dirty="0"/>
              <a:t>Use </a:t>
            </a:r>
            <a:r>
              <a:rPr lang="en-IN" b="1" dirty="0"/>
              <a:t>ML/RL-based model selection</a:t>
            </a:r>
            <a:r>
              <a:rPr lang="en-IN" dirty="0"/>
              <a:t> instead of fixed decision rules. </a:t>
            </a:r>
          </a:p>
          <a:p>
            <a:pPr lvl="0"/>
            <a:r>
              <a:rPr lang="en-IN" dirty="0"/>
              <a:t>Predict workload changes before SLA violations occur. </a:t>
            </a:r>
          </a:p>
          <a:p>
            <a:pPr lvl="0"/>
            <a:r>
              <a:rPr lang="en-IN" dirty="0"/>
              <a:t>Include GPU, memory, and </a:t>
            </a:r>
            <a:r>
              <a:rPr lang="en-IN" b="1" dirty="0"/>
              <a:t>energy consumption</a:t>
            </a:r>
            <a:r>
              <a:rPr lang="en-IN" dirty="0"/>
              <a:t> in adaptation decisions. </a:t>
            </a:r>
          </a:p>
          <a:p>
            <a:pPr lvl="0"/>
            <a:r>
              <a:rPr lang="en-IN" dirty="0"/>
              <a:t>Support more models and complex workloads. </a:t>
            </a:r>
          </a:p>
          <a:p>
            <a:pPr lvl="0"/>
            <a:r>
              <a:rPr lang="en-IN" dirty="0"/>
              <a:t>Extend the system to </a:t>
            </a:r>
            <a:r>
              <a:rPr lang="en-IN" b="1" dirty="0"/>
              <a:t>distributed and cloud environments</a:t>
            </a:r>
            <a:r>
              <a:rPr lang="en-IN" dirty="0"/>
              <a:t>. </a:t>
            </a:r>
          </a:p>
          <a:p>
            <a:pPr lvl="0"/>
            <a:r>
              <a:rPr lang="en-IN" dirty="0"/>
              <a:t>Improve adaptation using historical performance data.</a:t>
            </a:r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D3E38-D409-C6BA-EE2B-43567E87E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D6EA9-74F4-419E-9686-C1380811218E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477A13-1B51-C1A4-EFDA-F64E9B145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4BD45-A2DE-CF9A-2BBF-810E6C8C6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10</a:t>
            </a:fld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8F2C03F-B8C8-F061-844F-A565A49B7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7480" y="406400"/>
            <a:ext cx="6985000" cy="81280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Future Scope</a:t>
            </a:r>
          </a:p>
        </p:txBody>
      </p:sp>
    </p:spTree>
    <p:extLst>
      <p:ext uri="{BB962C8B-B14F-4D97-AF65-F5344CB8AC3E}">
        <p14:creationId xmlns:p14="http://schemas.microsoft.com/office/powerpoint/2010/main" val="3962506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</TotalTime>
  <Words>576</Words>
  <Application>Microsoft Office PowerPoint</Application>
  <PresentationFormat>Widescreen</PresentationFormat>
  <Paragraphs>134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Calibri Light</vt:lpstr>
      <vt:lpstr>Times New Roman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Modules</vt:lpstr>
      <vt:lpstr>Conclusion and Future Scope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srikanth ch</dc:creator>
  <cp:lastModifiedBy>Kandiga Suresh</cp:lastModifiedBy>
  <cp:revision>38</cp:revision>
  <dcterms:created xsi:type="dcterms:W3CDTF">2026-08-08T06:33:56Z</dcterms:created>
  <dcterms:modified xsi:type="dcterms:W3CDTF">2026-09-17T12:41:59Z</dcterms:modified>
</cp:coreProperties>
</file>